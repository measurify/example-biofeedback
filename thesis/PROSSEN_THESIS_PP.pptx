
<file path=[Content_Types].xml><?xml version="1.0" encoding="utf-8"?>
<Types xmlns="http://schemas.openxmlformats.org/package/2006/content-types">
  <Default Extension="jpeg" ContentType="image/jpeg"/>
  <Default Extension="jpg" ContentType="image/jp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9" r:id="rId10"/>
    <p:sldId id="266" r:id="rId11"/>
    <p:sldId id="267" r:id="rId12"/>
    <p:sldId id="268" r:id="rId13"/>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556" autoAdjust="0"/>
  </p:normalViewPr>
  <p:slideViewPr>
    <p:cSldViewPr>
      <p:cViewPr varScale="1">
        <p:scale>
          <a:sx n="146" d="100"/>
          <a:sy n="146" d="100"/>
        </p:scale>
        <p:origin x="1709" y="8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A4EE409D-7465-4110-8C1E-88B31944E8F9}" type="datetimeFigureOut">
              <a:rPr lang="it-IT" smtClean="0"/>
              <a:t>08/03/2026</a:t>
            </a:fld>
            <a:endParaRPr lang="it-IT"/>
          </a:p>
        </p:txBody>
      </p:sp>
      <p:sp>
        <p:nvSpPr>
          <p:cNvPr id="4" name="Segnaposto immagine diapositiva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2D4E620-E82C-43B8-97BC-D0BC21B285DE}" type="slidenum">
              <a:rPr lang="it-IT" smtClean="0"/>
              <a:t>‹N›</a:t>
            </a:fld>
            <a:endParaRPr lang="it-IT"/>
          </a:p>
        </p:txBody>
      </p:sp>
    </p:spTree>
    <p:extLst>
      <p:ext uri="{BB962C8B-B14F-4D97-AF65-F5344CB8AC3E}">
        <p14:creationId xmlns:p14="http://schemas.microsoft.com/office/powerpoint/2010/main" val="4088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Leggo, mi presento0</a:t>
            </a:r>
          </a:p>
        </p:txBody>
      </p:sp>
      <p:sp>
        <p:nvSpPr>
          <p:cNvPr id="4" name="Segnaposto numero diapositiva 3"/>
          <p:cNvSpPr>
            <a:spLocks noGrp="1"/>
          </p:cNvSpPr>
          <p:nvPr>
            <p:ph type="sldNum" sz="quarter" idx="5"/>
          </p:nvPr>
        </p:nvSpPr>
        <p:spPr/>
        <p:txBody>
          <a:bodyPr/>
          <a:lstStyle/>
          <a:p>
            <a:fld id="{02D4E620-E82C-43B8-97BC-D0BC21B285DE}" type="slidenum">
              <a:rPr lang="it-IT" smtClean="0"/>
              <a:t>1</a:t>
            </a:fld>
            <a:endParaRPr lang="it-IT"/>
          </a:p>
        </p:txBody>
      </p:sp>
    </p:spTree>
    <p:extLst>
      <p:ext uri="{BB962C8B-B14F-4D97-AF65-F5344CB8AC3E}">
        <p14:creationId xmlns:p14="http://schemas.microsoft.com/office/powerpoint/2010/main" val="3173695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Definizione biofeedback (non farmacologica, parametri fisiologici, stato psicofisico, HRV e EDA, più consapevolezza) e scopi (sistema embedded, </a:t>
            </a:r>
            <a:r>
              <a:rPr lang="it-IT" dirty="0" err="1"/>
              <a:t>multisensore</a:t>
            </a:r>
            <a:r>
              <a:rPr lang="it-IT" dirty="0"/>
              <a:t>, acquisire parametri </a:t>
            </a:r>
            <a:r>
              <a:rPr lang="it-IT" dirty="0" err="1"/>
              <a:t>fisio</a:t>
            </a:r>
            <a:r>
              <a:rPr lang="it-IT" dirty="0"/>
              <a:t>, e rendere disponibili su applicazione che permetta…)</a:t>
            </a:r>
          </a:p>
        </p:txBody>
      </p:sp>
      <p:sp>
        <p:nvSpPr>
          <p:cNvPr id="4" name="Segnaposto numero diapositiva 3"/>
          <p:cNvSpPr>
            <a:spLocks noGrp="1"/>
          </p:cNvSpPr>
          <p:nvPr>
            <p:ph type="sldNum" sz="quarter" idx="5"/>
          </p:nvPr>
        </p:nvSpPr>
        <p:spPr/>
        <p:txBody>
          <a:bodyPr/>
          <a:lstStyle/>
          <a:p>
            <a:fld id="{02D4E620-E82C-43B8-97BC-D0BC21B285DE}" type="slidenum">
              <a:rPr lang="it-IT" smtClean="0"/>
              <a:t>2</a:t>
            </a:fld>
            <a:endParaRPr lang="it-IT"/>
          </a:p>
        </p:txBody>
      </p:sp>
    </p:spTree>
    <p:extLst>
      <p:ext uri="{BB962C8B-B14F-4D97-AF65-F5344CB8AC3E}">
        <p14:creationId xmlns:p14="http://schemas.microsoft.com/office/powerpoint/2010/main" val="3259511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Acquisizione attraverso sensori, elaborazione locale nel firmware, BLE grafici in tempo reale, framework API </a:t>
            </a:r>
            <a:r>
              <a:rPr lang="it-IT" dirty="0" err="1"/>
              <a:t>RESTful</a:t>
            </a:r>
            <a:endParaRPr lang="it-IT" dirty="0"/>
          </a:p>
        </p:txBody>
      </p:sp>
      <p:sp>
        <p:nvSpPr>
          <p:cNvPr id="4" name="Segnaposto numero diapositiva 3"/>
          <p:cNvSpPr>
            <a:spLocks noGrp="1"/>
          </p:cNvSpPr>
          <p:nvPr>
            <p:ph type="sldNum" sz="quarter" idx="5"/>
          </p:nvPr>
        </p:nvSpPr>
        <p:spPr/>
        <p:txBody>
          <a:bodyPr/>
          <a:lstStyle/>
          <a:p>
            <a:fld id="{02D4E620-E82C-43B8-97BC-D0BC21B285DE}" type="slidenum">
              <a:rPr lang="it-IT" smtClean="0"/>
              <a:t>3</a:t>
            </a:fld>
            <a:endParaRPr lang="it-IT"/>
          </a:p>
        </p:txBody>
      </p:sp>
    </p:spTree>
    <p:extLst>
      <p:ext uri="{BB962C8B-B14F-4D97-AF65-F5344CB8AC3E}">
        <p14:creationId xmlns:p14="http://schemas.microsoft.com/office/powerpoint/2010/main" val="392184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Scheda scelta, an3bs, con modulo batteria ricaricabile, in modo da rendere il dispositivo mobile e stand-alone. Collegamento semplice sensori Facilitarne la manutenzione e la sostituzione</a:t>
            </a:r>
          </a:p>
        </p:txBody>
      </p:sp>
      <p:sp>
        <p:nvSpPr>
          <p:cNvPr id="4" name="Segnaposto numero diapositiva 3"/>
          <p:cNvSpPr>
            <a:spLocks noGrp="1"/>
          </p:cNvSpPr>
          <p:nvPr>
            <p:ph type="sldNum" sz="quarter" idx="5"/>
          </p:nvPr>
        </p:nvSpPr>
        <p:spPr/>
        <p:txBody>
          <a:bodyPr/>
          <a:lstStyle/>
          <a:p>
            <a:fld id="{02D4E620-E82C-43B8-97BC-D0BC21B285DE}" type="slidenum">
              <a:rPr lang="it-IT" smtClean="0"/>
              <a:t>4</a:t>
            </a:fld>
            <a:endParaRPr lang="it-IT"/>
          </a:p>
        </p:txBody>
      </p:sp>
    </p:spTree>
    <p:extLst>
      <p:ext uri="{BB962C8B-B14F-4D97-AF65-F5344CB8AC3E}">
        <p14:creationId xmlns:p14="http://schemas.microsoft.com/office/powerpoint/2010/main" val="791441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Led e fotodiodo. BPM, intervalli RR, metriche HRV. Conduttanza della pelle, attività del sistema nervoso simpatico. Tonica IIR low pass. Fasica high pass, situa improvvise</a:t>
            </a:r>
          </a:p>
        </p:txBody>
      </p:sp>
      <p:sp>
        <p:nvSpPr>
          <p:cNvPr id="4" name="Segnaposto numero diapositiva 3"/>
          <p:cNvSpPr>
            <a:spLocks noGrp="1"/>
          </p:cNvSpPr>
          <p:nvPr>
            <p:ph type="sldNum" sz="quarter" idx="5"/>
          </p:nvPr>
        </p:nvSpPr>
        <p:spPr/>
        <p:txBody>
          <a:bodyPr/>
          <a:lstStyle/>
          <a:p>
            <a:fld id="{02D4E620-E82C-43B8-97BC-D0BC21B285DE}" type="slidenum">
              <a:rPr lang="it-IT" smtClean="0"/>
              <a:t>5</a:t>
            </a:fld>
            <a:endParaRPr lang="it-IT"/>
          </a:p>
        </p:txBody>
      </p:sp>
    </p:spTree>
    <p:extLst>
      <p:ext uri="{BB962C8B-B14F-4D97-AF65-F5344CB8AC3E}">
        <p14:creationId xmlns:p14="http://schemas.microsoft.com/office/powerpoint/2010/main" val="3252627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Si nota un modulo di amplificazione</a:t>
            </a:r>
          </a:p>
        </p:txBody>
      </p:sp>
      <p:sp>
        <p:nvSpPr>
          <p:cNvPr id="4" name="Segnaposto numero diapositiva 3"/>
          <p:cNvSpPr>
            <a:spLocks noGrp="1"/>
          </p:cNvSpPr>
          <p:nvPr>
            <p:ph type="sldNum" sz="quarter" idx="5"/>
          </p:nvPr>
        </p:nvSpPr>
        <p:spPr/>
        <p:txBody>
          <a:bodyPr/>
          <a:lstStyle/>
          <a:p>
            <a:fld id="{02D4E620-E82C-43B8-97BC-D0BC21B285DE}" type="slidenum">
              <a:rPr lang="it-IT" smtClean="0"/>
              <a:t>6</a:t>
            </a:fld>
            <a:endParaRPr lang="it-IT"/>
          </a:p>
        </p:txBody>
      </p:sp>
    </p:spTree>
    <p:extLst>
      <p:ext uri="{BB962C8B-B14F-4D97-AF65-F5344CB8AC3E}">
        <p14:creationId xmlns:p14="http://schemas.microsoft.com/office/powerpoint/2010/main" val="2642516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Dart framework Flutter Smart </a:t>
            </a:r>
            <a:r>
              <a:rPr lang="it-IT" dirty="0" err="1"/>
              <a:t>collector</a:t>
            </a:r>
            <a:r>
              <a:rPr lang="it-IT" dirty="0"/>
              <a:t> </a:t>
            </a:r>
            <a:r>
              <a:rPr lang="it-IT" dirty="0" err="1"/>
              <a:t>elios</a:t>
            </a:r>
            <a:r>
              <a:rPr lang="it-IT" dirty="0"/>
              <a:t> lab. Cross </a:t>
            </a:r>
            <a:r>
              <a:rPr lang="it-IT" dirty="0" err="1"/>
              <a:t>platform</a:t>
            </a:r>
            <a:r>
              <a:rPr lang="it-IT" dirty="0"/>
              <a:t> dallo stesso codice sorgente</a:t>
            </a:r>
          </a:p>
        </p:txBody>
      </p:sp>
      <p:sp>
        <p:nvSpPr>
          <p:cNvPr id="4" name="Segnaposto numero diapositiva 3"/>
          <p:cNvSpPr>
            <a:spLocks noGrp="1"/>
          </p:cNvSpPr>
          <p:nvPr>
            <p:ph type="sldNum" sz="quarter" idx="5"/>
          </p:nvPr>
        </p:nvSpPr>
        <p:spPr/>
        <p:txBody>
          <a:bodyPr/>
          <a:lstStyle/>
          <a:p>
            <a:fld id="{02D4E620-E82C-43B8-97BC-D0BC21B285DE}" type="slidenum">
              <a:rPr lang="it-IT" smtClean="0"/>
              <a:t>7</a:t>
            </a:fld>
            <a:endParaRPr lang="it-IT"/>
          </a:p>
        </p:txBody>
      </p:sp>
    </p:spTree>
    <p:extLst>
      <p:ext uri="{BB962C8B-B14F-4D97-AF65-F5344CB8AC3E}">
        <p14:creationId xmlns:p14="http://schemas.microsoft.com/office/powerpoint/2010/main" val="104005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Alcune metriche e dire che </a:t>
            </a:r>
            <a:r>
              <a:rPr lang="it-IT" dirty="0" err="1"/>
              <a:t>ognni</a:t>
            </a:r>
            <a:r>
              <a:rPr lang="it-IT" dirty="0"/>
              <a:t> grandezza si può vedere singolarmente. Dire tasti in alto</a:t>
            </a:r>
          </a:p>
        </p:txBody>
      </p:sp>
      <p:sp>
        <p:nvSpPr>
          <p:cNvPr id="4" name="Segnaposto numero diapositiva 3"/>
          <p:cNvSpPr>
            <a:spLocks noGrp="1"/>
          </p:cNvSpPr>
          <p:nvPr>
            <p:ph type="sldNum" sz="quarter" idx="5"/>
          </p:nvPr>
        </p:nvSpPr>
        <p:spPr/>
        <p:txBody>
          <a:bodyPr/>
          <a:lstStyle/>
          <a:p>
            <a:fld id="{02D4E620-E82C-43B8-97BC-D0BC21B285DE}" type="slidenum">
              <a:rPr lang="it-IT" smtClean="0"/>
              <a:t>8</a:t>
            </a:fld>
            <a:endParaRPr lang="it-IT"/>
          </a:p>
        </p:txBody>
      </p:sp>
    </p:spTree>
    <p:extLst>
      <p:ext uri="{BB962C8B-B14F-4D97-AF65-F5344CB8AC3E}">
        <p14:creationId xmlns:p14="http://schemas.microsoft.com/office/powerpoint/2010/main" val="194272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Attenzione a cursore</a:t>
            </a:r>
          </a:p>
        </p:txBody>
      </p:sp>
      <p:sp>
        <p:nvSpPr>
          <p:cNvPr id="4" name="Segnaposto numero diapositiva 3"/>
          <p:cNvSpPr>
            <a:spLocks noGrp="1"/>
          </p:cNvSpPr>
          <p:nvPr>
            <p:ph type="sldNum" sz="quarter" idx="5"/>
          </p:nvPr>
        </p:nvSpPr>
        <p:spPr/>
        <p:txBody>
          <a:bodyPr/>
          <a:lstStyle/>
          <a:p>
            <a:fld id="{9EE67B0D-9DFD-4A5C-B796-3CCC3BF805D5}" type="slidenum">
              <a:rPr lang="it-IT" smtClean="0"/>
              <a:t>9</a:t>
            </a:fld>
            <a:endParaRPr lang="it-IT"/>
          </a:p>
        </p:txBody>
      </p:sp>
    </p:spTree>
    <p:extLst>
      <p:ext uri="{BB962C8B-B14F-4D97-AF65-F5344CB8AC3E}">
        <p14:creationId xmlns:p14="http://schemas.microsoft.com/office/powerpoint/2010/main" val="4231518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Posizione ditali e soglia adattiva. </a:t>
            </a:r>
            <a:r>
              <a:rPr lang="it-IT" sz="1200" kern="1200" dirty="0">
                <a:solidFill>
                  <a:schemeClr val="tx1"/>
                </a:solidFill>
                <a:effectLst/>
                <a:latin typeface="+mn-lt"/>
                <a:ea typeface="+mn-ea"/>
                <a:cs typeface="+mn-cs"/>
              </a:rPr>
              <a:t>I test hanno mostrato un funzionamento stabile del sistema, pur trattandosi di sensori non professionali.</a:t>
            </a:r>
          </a:p>
          <a:p>
            <a:endParaRPr lang="it-IT" dirty="0"/>
          </a:p>
        </p:txBody>
      </p:sp>
      <p:sp>
        <p:nvSpPr>
          <p:cNvPr id="4" name="Segnaposto numero diapositiva 3"/>
          <p:cNvSpPr>
            <a:spLocks noGrp="1"/>
          </p:cNvSpPr>
          <p:nvPr>
            <p:ph type="sldNum" sz="quarter" idx="5"/>
          </p:nvPr>
        </p:nvSpPr>
        <p:spPr/>
        <p:txBody>
          <a:bodyPr/>
          <a:lstStyle/>
          <a:p>
            <a:fld id="{02D4E620-E82C-43B8-97BC-D0BC21B285DE}" type="slidenum">
              <a:rPr lang="it-IT" smtClean="0"/>
              <a:t>10</a:t>
            </a:fld>
            <a:endParaRPr lang="it-IT"/>
          </a:p>
        </p:txBody>
      </p:sp>
    </p:spTree>
    <p:extLst>
      <p:ext uri="{BB962C8B-B14F-4D97-AF65-F5344CB8AC3E}">
        <p14:creationId xmlns:p14="http://schemas.microsoft.com/office/powerpoint/2010/main" val="2096939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La sfida più ardua da affrontare è stata sicuramente  lo sviluppo di un’applicazione in un linguaggio che non conoscevo completamente, ma ritengo che questo progetto sia stato altamente formativo in quanto mi ha permesso di approcciarmi alle diverse fasi di progettazione</a:t>
            </a:r>
          </a:p>
        </p:txBody>
      </p:sp>
      <p:sp>
        <p:nvSpPr>
          <p:cNvPr id="4" name="Segnaposto numero diapositiva 3"/>
          <p:cNvSpPr>
            <a:spLocks noGrp="1"/>
          </p:cNvSpPr>
          <p:nvPr>
            <p:ph type="sldNum" sz="quarter" idx="5"/>
          </p:nvPr>
        </p:nvSpPr>
        <p:spPr/>
        <p:txBody>
          <a:bodyPr/>
          <a:lstStyle/>
          <a:p>
            <a:fld id="{02D4E620-E82C-43B8-97BC-D0BC21B285DE}" type="slidenum">
              <a:rPr lang="it-IT" smtClean="0"/>
              <a:t>11</a:t>
            </a:fld>
            <a:endParaRPr lang="it-IT"/>
          </a:p>
        </p:txBody>
      </p:sp>
    </p:spTree>
    <p:extLst>
      <p:ext uri="{BB962C8B-B14F-4D97-AF65-F5344CB8AC3E}">
        <p14:creationId xmlns:p14="http://schemas.microsoft.com/office/powerpoint/2010/main" val="220775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700" b="0" i="0">
                <a:solidFill>
                  <a:schemeClr val="bg1"/>
                </a:solidFill>
                <a:latin typeface="Tahoma"/>
                <a:cs typeface="Tahoma"/>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chemeClr val="bg1"/>
                </a:solidFill>
                <a:latin typeface="Tahoma"/>
                <a:cs typeface="Tahoma"/>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3/8/2026</a:t>
            </a:fld>
            <a:endParaRPr lang="en-US"/>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
            <a:ext cx="4608195" cy="518159"/>
          </a:xfrm>
          <a:custGeom>
            <a:avLst/>
            <a:gdLst/>
            <a:ahLst/>
            <a:cxnLst/>
            <a:rect l="l" t="t" r="r" b="b"/>
            <a:pathLst>
              <a:path w="4608195" h="518159">
                <a:moveTo>
                  <a:pt x="4608004" y="0"/>
                </a:moveTo>
                <a:lnTo>
                  <a:pt x="0" y="0"/>
                </a:lnTo>
                <a:lnTo>
                  <a:pt x="0" y="517677"/>
                </a:lnTo>
                <a:lnTo>
                  <a:pt x="4608004" y="517677"/>
                </a:lnTo>
                <a:lnTo>
                  <a:pt x="4608004" y="0"/>
                </a:lnTo>
                <a:close/>
              </a:path>
            </a:pathLst>
          </a:custGeom>
          <a:solidFill>
            <a:srgbClr val="003366"/>
          </a:solidFill>
        </p:spPr>
        <p:txBody>
          <a:bodyPr wrap="square" lIns="0" tIns="0" rIns="0" bIns="0" rtlCol="0"/>
          <a:lstStyle/>
          <a:p>
            <a:endParaRPr/>
          </a:p>
        </p:txBody>
      </p:sp>
      <p:sp>
        <p:nvSpPr>
          <p:cNvPr id="2" name="Holder 2"/>
          <p:cNvSpPr>
            <a:spLocks noGrp="1"/>
          </p:cNvSpPr>
          <p:nvPr>
            <p:ph type="title"/>
          </p:nvPr>
        </p:nvSpPr>
        <p:spPr>
          <a:xfrm>
            <a:off x="149961" y="78569"/>
            <a:ext cx="2700020" cy="309549"/>
          </a:xfrm>
          <a:prstGeom prst="rect">
            <a:avLst/>
          </a:prstGeom>
        </p:spPr>
        <p:txBody>
          <a:bodyPr wrap="square" lIns="0" tIns="0" rIns="0" bIns="0">
            <a:spAutoFit/>
          </a:bodyPr>
          <a:lstStyle>
            <a:lvl1pPr>
              <a:defRPr sz="1700" b="0" i="0">
                <a:solidFill>
                  <a:schemeClr val="bg1"/>
                </a:solidFill>
                <a:latin typeface="Tahoma"/>
                <a:cs typeface="Tahoma"/>
              </a:defRPr>
            </a:lvl1pPr>
          </a:lstStyle>
          <a:p>
            <a:endParaRPr/>
          </a:p>
        </p:txBody>
      </p:sp>
      <p:sp>
        <p:nvSpPr>
          <p:cNvPr id="3" name="Holder 3"/>
          <p:cNvSpPr>
            <a:spLocks noGrp="1"/>
          </p:cNvSpPr>
          <p:nvPr>
            <p:ph type="body" idx="1"/>
          </p:nvPr>
        </p:nvSpPr>
        <p:spPr>
          <a:xfrm>
            <a:off x="2015617" y="860868"/>
            <a:ext cx="2608579" cy="1434464"/>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500303" y="3321949"/>
            <a:ext cx="381634" cy="137160"/>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190"/>
              </a:spcBef>
            </a:pPr>
            <a:r>
              <a:rPr dirty="0"/>
              <a:t>E.</a:t>
            </a:r>
            <a:r>
              <a:rPr spc="35" dirty="0"/>
              <a:t> </a:t>
            </a:r>
            <a:r>
              <a:rPr spc="-25" dirty="0"/>
              <a:t>Prossen</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3/8/2026</a:t>
            </a:fld>
            <a:endParaRPr lang="en-US"/>
          </a:p>
        </p:txBody>
      </p:sp>
      <p:sp>
        <p:nvSpPr>
          <p:cNvPr id="6" name="Holder 6"/>
          <p:cNvSpPr>
            <a:spLocks noGrp="1"/>
          </p:cNvSpPr>
          <p:nvPr>
            <p:ph type="sldNum" sz="quarter" idx="7"/>
          </p:nvPr>
        </p:nvSpPr>
        <p:spPr>
          <a:xfrm>
            <a:off x="3758819" y="3321949"/>
            <a:ext cx="311150" cy="137160"/>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7780">
              <a:lnSpc>
                <a:spcPct val="100000"/>
              </a:lnSpc>
              <a:spcBef>
                <a:spcPts val="190"/>
              </a:spcBef>
            </a:pPr>
            <a:fld id="{81D60167-4931-47E6-BA6A-407CBD079E47}" type="slidenum">
              <a:rPr dirty="0"/>
              <a:t>‹N›</a:t>
            </a:fld>
            <a:r>
              <a:rPr spc="25" dirty="0"/>
              <a:t> </a:t>
            </a:r>
            <a:r>
              <a:rPr dirty="0"/>
              <a:t>of</a:t>
            </a:r>
            <a:r>
              <a:rPr spc="20" dirty="0"/>
              <a:t> </a:t>
            </a:r>
            <a:r>
              <a:rPr spc="-25" dirty="0"/>
              <a:t>13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slide" Target="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slide" Target="slide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2.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slideLayout" Target="../slideLayouts/slideLayout3.xml"/><Relationship Id="rId7" Type="http://schemas.openxmlformats.org/officeDocument/2006/relationships/image" Target="../media/image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slide" Target="slide1.xml"/><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128979" y="69007"/>
            <a:ext cx="2349967" cy="1204358"/>
          </a:xfrm>
          <a:prstGeom prst="rect">
            <a:avLst/>
          </a:prstGeom>
        </p:spPr>
      </p:pic>
      <p:sp>
        <p:nvSpPr>
          <p:cNvPr id="3" name="object 3"/>
          <p:cNvSpPr txBox="1"/>
          <p:nvPr/>
        </p:nvSpPr>
        <p:spPr>
          <a:xfrm>
            <a:off x="399821" y="1347551"/>
            <a:ext cx="3809365" cy="177800"/>
          </a:xfrm>
          <a:prstGeom prst="rect">
            <a:avLst/>
          </a:prstGeom>
        </p:spPr>
        <p:txBody>
          <a:bodyPr vert="horz" wrap="square" lIns="0" tIns="12065" rIns="0" bIns="0" rtlCol="0">
            <a:spAutoFit/>
          </a:bodyPr>
          <a:lstStyle/>
          <a:p>
            <a:pPr marL="12700">
              <a:lnSpc>
                <a:spcPct val="100000"/>
              </a:lnSpc>
              <a:spcBef>
                <a:spcPts val="95"/>
              </a:spcBef>
            </a:pPr>
            <a:r>
              <a:rPr sz="1000" spc="-25" dirty="0">
                <a:solidFill>
                  <a:srgbClr val="003366"/>
                </a:solidFill>
                <a:latin typeface="Tahoma"/>
                <a:cs typeface="Tahoma"/>
              </a:rPr>
              <a:t>Corso</a:t>
            </a:r>
            <a:r>
              <a:rPr sz="1000" spc="-20" dirty="0">
                <a:solidFill>
                  <a:srgbClr val="003366"/>
                </a:solidFill>
                <a:latin typeface="Tahoma"/>
                <a:cs typeface="Tahoma"/>
              </a:rPr>
              <a:t> </a:t>
            </a:r>
            <a:r>
              <a:rPr sz="1000" dirty="0">
                <a:solidFill>
                  <a:srgbClr val="003366"/>
                </a:solidFill>
                <a:latin typeface="Tahoma"/>
                <a:cs typeface="Tahoma"/>
              </a:rPr>
              <a:t>di</a:t>
            </a:r>
            <a:r>
              <a:rPr sz="1000" spc="-20" dirty="0">
                <a:solidFill>
                  <a:srgbClr val="003366"/>
                </a:solidFill>
                <a:latin typeface="Tahoma"/>
                <a:cs typeface="Tahoma"/>
              </a:rPr>
              <a:t> </a:t>
            </a:r>
            <a:r>
              <a:rPr sz="1000" spc="-10" dirty="0">
                <a:solidFill>
                  <a:srgbClr val="003366"/>
                </a:solidFill>
                <a:latin typeface="Tahoma"/>
                <a:cs typeface="Tahoma"/>
              </a:rPr>
              <a:t>Studio</a:t>
            </a:r>
            <a:r>
              <a:rPr sz="1000" spc="-20" dirty="0">
                <a:solidFill>
                  <a:srgbClr val="003366"/>
                </a:solidFill>
                <a:latin typeface="Tahoma"/>
                <a:cs typeface="Tahoma"/>
              </a:rPr>
              <a:t> </a:t>
            </a:r>
            <a:r>
              <a:rPr sz="1000" dirty="0">
                <a:solidFill>
                  <a:srgbClr val="003366"/>
                </a:solidFill>
                <a:latin typeface="Tahoma"/>
                <a:cs typeface="Tahoma"/>
              </a:rPr>
              <a:t>in</a:t>
            </a:r>
            <a:r>
              <a:rPr sz="1000" spc="-20" dirty="0">
                <a:solidFill>
                  <a:srgbClr val="003366"/>
                </a:solidFill>
                <a:latin typeface="Tahoma"/>
                <a:cs typeface="Tahoma"/>
              </a:rPr>
              <a:t> </a:t>
            </a:r>
            <a:r>
              <a:rPr sz="1000" spc="-55" dirty="0">
                <a:solidFill>
                  <a:srgbClr val="003366"/>
                </a:solidFill>
                <a:latin typeface="Tahoma"/>
                <a:cs typeface="Tahoma"/>
              </a:rPr>
              <a:t>Ingegneria</a:t>
            </a:r>
            <a:r>
              <a:rPr sz="1000" spc="-20" dirty="0">
                <a:solidFill>
                  <a:srgbClr val="003366"/>
                </a:solidFill>
                <a:latin typeface="Tahoma"/>
                <a:cs typeface="Tahoma"/>
              </a:rPr>
              <a:t> Elettronica </a:t>
            </a:r>
            <a:r>
              <a:rPr sz="1000" dirty="0">
                <a:solidFill>
                  <a:srgbClr val="003366"/>
                </a:solidFill>
                <a:latin typeface="Tahoma"/>
                <a:cs typeface="Tahoma"/>
              </a:rPr>
              <a:t>e</a:t>
            </a:r>
            <a:r>
              <a:rPr sz="1000" spc="-20" dirty="0">
                <a:solidFill>
                  <a:srgbClr val="003366"/>
                </a:solidFill>
                <a:latin typeface="Tahoma"/>
                <a:cs typeface="Tahoma"/>
              </a:rPr>
              <a:t> </a:t>
            </a:r>
            <a:r>
              <a:rPr sz="1000" spc="-35" dirty="0">
                <a:solidFill>
                  <a:srgbClr val="003366"/>
                </a:solidFill>
                <a:latin typeface="Tahoma"/>
                <a:cs typeface="Tahoma"/>
              </a:rPr>
              <a:t>Tecnologie</a:t>
            </a:r>
            <a:r>
              <a:rPr sz="1000" spc="-15" dirty="0">
                <a:solidFill>
                  <a:srgbClr val="003366"/>
                </a:solidFill>
                <a:latin typeface="Tahoma"/>
                <a:cs typeface="Tahoma"/>
              </a:rPr>
              <a:t> </a:t>
            </a:r>
            <a:r>
              <a:rPr sz="1000" spc="-25" dirty="0">
                <a:solidFill>
                  <a:srgbClr val="003366"/>
                </a:solidFill>
                <a:latin typeface="Tahoma"/>
                <a:cs typeface="Tahoma"/>
              </a:rPr>
              <a:t>dell’Informazione</a:t>
            </a:r>
            <a:endParaRPr sz="1000">
              <a:latin typeface="Tahoma"/>
              <a:cs typeface="Tahoma"/>
            </a:endParaRPr>
          </a:p>
        </p:txBody>
      </p:sp>
      <p:sp>
        <p:nvSpPr>
          <p:cNvPr id="4" name="object 4"/>
          <p:cNvSpPr txBox="1"/>
          <p:nvPr/>
        </p:nvSpPr>
        <p:spPr>
          <a:xfrm>
            <a:off x="628650" y="1595891"/>
            <a:ext cx="3428999" cy="546881"/>
          </a:xfrm>
          <a:prstGeom prst="rect">
            <a:avLst/>
          </a:prstGeom>
        </p:spPr>
        <p:txBody>
          <a:bodyPr vert="horz" wrap="square" lIns="0" tIns="12065" rIns="0" bIns="0" rtlCol="0">
            <a:spAutoFit/>
          </a:bodyPr>
          <a:lstStyle/>
          <a:p>
            <a:pPr marL="12700" marR="5080" algn="ctr">
              <a:lnSpc>
                <a:spcPct val="107400"/>
              </a:lnSpc>
              <a:spcBef>
                <a:spcPts val="95"/>
              </a:spcBef>
            </a:pPr>
            <a:r>
              <a:rPr lang="it-IT" sz="1700" spc="-160" dirty="0">
                <a:solidFill>
                  <a:srgbClr val="003366"/>
                </a:solidFill>
                <a:latin typeface="Tahoma" panose="020B0604030504040204" pitchFamily="34" charset="0"/>
                <a:ea typeface="Tahoma" panose="020B0604030504040204" pitchFamily="34" charset="0"/>
                <a:cs typeface="Tahoma" panose="020B0604030504040204" pitchFamily="34" charset="0"/>
              </a:rPr>
              <a:t>Progettazione</a:t>
            </a:r>
            <a:r>
              <a:rPr lang="it-IT" sz="1700" spc="20"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265" dirty="0">
                <a:solidFill>
                  <a:srgbClr val="003366"/>
                </a:solidFill>
                <a:latin typeface="Tahoma" panose="020B0604030504040204" pitchFamily="34" charset="0"/>
                <a:ea typeface="Tahoma" panose="020B0604030504040204" pitchFamily="34" charset="0"/>
                <a:cs typeface="Tahoma" panose="020B0604030504040204" pitchFamily="34" charset="0"/>
              </a:rPr>
              <a:t>e</a:t>
            </a:r>
            <a:r>
              <a:rPr lang="it-IT" sz="1700" spc="60"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160" dirty="0">
                <a:solidFill>
                  <a:srgbClr val="003366"/>
                </a:solidFill>
                <a:latin typeface="Tahoma" panose="020B0604030504040204" pitchFamily="34" charset="0"/>
                <a:ea typeface="Tahoma" panose="020B0604030504040204" pitchFamily="34" charset="0"/>
                <a:cs typeface="Tahoma" panose="020B0604030504040204" pitchFamily="34" charset="0"/>
              </a:rPr>
              <a:t>Sviluppo</a:t>
            </a:r>
            <a:r>
              <a:rPr lang="it-IT" sz="1700" spc="35"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114" dirty="0">
                <a:solidFill>
                  <a:srgbClr val="003366"/>
                </a:solidFill>
                <a:latin typeface="Tahoma" panose="020B0604030504040204" pitchFamily="34" charset="0"/>
                <a:ea typeface="Tahoma" panose="020B0604030504040204" pitchFamily="34" charset="0"/>
                <a:cs typeface="Tahoma" panose="020B0604030504040204" pitchFamily="34" charset="0"/>
              </a:rPr>
              <a:t>di</a:t>
            </a:r>
            <a:r>
              <a:rPr lang="it-IT" sz="1700" spc="40"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100" dirty="0">
                <a:solidFill>
                  <a:srgbClr val="003366"/>
                </a:solidFill>
                <a:latin typeface="Tahoma" panose="020B0604030504040204" pitchFamily="34" charset="0"/>
                <a:ea typeface="Tahoma" panose="020B0604030504040204" pitchFamily="34" charset="0"/>
                <a:cs typeface="Tahoma" panose="020B0604030504040204" pitchFamily="34" charset="0"/>
              </a:rPr>
              <a:t>un Sistema</a:t>
            </a:r>
            <a:r>
              <a:rPr lang="it-IT" sz="1700" spc="65"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160" dirty="0">
                <a:solidFill>
                  <a:srgbClr val="003366"/>
                </a:solidFill>
                <a:latin typeface="Tahoma" panose="020B0604030504040204" pitchFamily="34" charset="0"/>
                <a:ea typeface="Tahoma" panose="020B0604030504040204" pitchFamily="34" charset="0"/>
                <a:cs typeface="Tahoma" panose="020B0604030504040204" pitchFamily="34" charset="0"/>
              </a:rPr>
              <a:t>per</a:t>
            </a:r>
            <a:r>
              <a:rPr lang="it-IT" sz="1700" spc="70"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175" dirty="0">
                <a:solidFill>
                  <a:srgbClr val="003366"/>
                </a:solidFill>
                <a:latin typeface="Tahoma" panose="020B0604030504040204" pitchFamily="34" charset="0"/>
                <a:ea typeface="Tahoma" panose="020B0604030504040204" pitchFamily="34" charset="0"/>
                <a:cs typeface="Tahoma" panose="020B0604030504040204" pitchFamily="34" charset="0"/>
              </a:rPr>
              <a:t>Esperimenti</a:t>
            </a:r>
            <a:r>
              <a:rPr lang="it-IT" sz="1700" spc="65" dirty="0">
                <a:solidFill>
                  <a:srgbClr val="003366"/>
                </a:solidFill>
                <a:latin typeface="Tahoma" panose="020B0604030504040204" pitchFamily="34" charset="0"/>
                <a:ea typeface="Tahoma" panose="020B0604030504040204" pitchFamily="34" charset="0"/>
                <a:cs typeface="Tahoma" panose="020B0604030504040204" pitchFamily="34" charset="0"/>
              </a:rPr>
              <a:t> </a:t>
            </a:r>
            <a:r>
              <a:rPr lang="it-IT" sz="1700" spc="-25" dirty="0">
                <a:solidFill>
                  <a:srgbClr val="003366"/>
                </a:solidFill>
                <a:latin typeface="Tahoma" panose="020B0604030504040204" pitchFamily="34" charset="0"/>
                <a:ea typeface="Tahoma" panose="020B0604030504040204" pitchFamily="34" charset="0"/>
                <a:cs typeface="Tahoma" panose="020B0604030504040204" pitchFamily="34" charset="0"/>
              </a:rPr>
              <a:t>di </a:t>
            </a:r>
            <a:r>
              <a:rPr lang="it-IT" sz="1700" spc="-114" dirty="0">
                <a:solidFill>
                  <a:srgbClr val="003366"/>
                </a:solidFill>
                <a:latin typeface="Tahoma" panose="020B0604030504040204" pitchFamily="34" charset="0"/>
                <a:ea typeface="Tahoma" panose="020B0604030504040204" pitchFamily="34" charset="0"/>
                <a:cs typeface="Tahoma" panose="020B0604030504040204" pitchFamily="34" charset="0"/>
              </a:rPr>
              <a:t>Biofeedback</a:t>
            </a:r>
            <a:endParaRPr lang="it-IT" sz="1700" dirty="0">
              <a:latin typeface="Tahoma" panose="020B0604030504040204" pitchFamily="34" charset="0"/>
              <a:ea typeface="Tahoma" panose="020B0604030504040204" pitchFamily="34" charset="0"/>
              <a:cs typeface="Tahoma" panose="020B0604030504040204" pitchFamily="34" charset="0"/>
            </a:endParaRPr>
          </a:p>
        </p:txBody>
      </p:sp>
      <p:sp>
        <p:nvSpPr>
          <p:cNvPr id="5" name="object 5"/>
          <p:cNvSpPr txBox="1"/>
          <p:nvPr/>
        </p:nvSpPr>
        <p:spPr>
          <a:xfrm>
            <a:off x="1302155" y="2227645"/>
            <a:ext cx="2002789" cy="941705"/>
          </a:xfrm>
          <a:prstGeom prst="rect">
            <a:avLst/>
          </a:prstGeom>
        </p:spPr>
        <p:txBody>
          <a:bodyPr vert="horz" wrap="square" lIns="0" tIns="100330" rIns="0" bIns="0" rtlCol="0">
            <a:spAutoFit/>
          </a:bodyPr>
          <a:lstStyle/>
          <a:p>
            <a:pPr algn="ctr">
              <a:lnSpc>
                <a:spcPct val="100000"/>
              </a:lnSpc>
              <a:spcBef>
                <a:spcPts val="790"/>
              </a:spcBef>
            </a:pPr>
            <a:r>
              <a:rPr sz="1100" spc="-105" dirty="0">
                <a:solidFill>
                  <a:srgbClr val="003366"/>
                </a:solidFill>
                <a:latin typeface="Tahoma" panose="020B0604030504040204" pitchFamily="34" charset="0"/>
                <a:ea typeface="Tahoma" panose="020B0604030504040204" pitchFamily="34" charset="0"/>
                <a:cs typeface="Tahoma" panose="020B0604030504040204" pitchFamily="34" charset="0"/>
              </a:rPr>
              <a:t>Candidato: </a:t>
            </a:r>
            <a:r>
              <a:rPr sz="1100" spc="-35" dirty="0">
                <a:solidFill>
                  <a:srgbClr val="003366"/>
                </a:solidFill>
                <a:latin typeface="Tahoma"/>
                <a:cs typeface="Tahoma"/>
              </a:rPr>
              <a:t>Edoardo</a:t>
            </a:r>
            <a:r>
              <a:rPr sz="1100" spc="-50" dirty="0">
                <a:solidFill>
                  <a:srgbClr val="003366"/>
                </a:solidFill>
                <a:latin typeface="Tahoma"/>
                <a:cs typeface="Tahoma"/>
              </a:rPr>
              <a:t> </a:t>
            </a:r>
            <a:r>
              <a:rPr sz="1100" spc="-10" dirty="0">
                <a:solidFill>
                  <a:srgbClr val="003366"/>
                </a:solidFill>
                <a:latin typeface="Tahoma"/>
                <a:cs typeface="Tahoma"/>
              </a:rPr>
              <a:t>Prossen</a:t>
            </a:r>
            <a:endParaRPr sz="1100" dirty="0">
              <a:latin typeface="Tahoma"/>
              <a:cs typeface="Tahoma"/>
            </a:endParaRPr>
          </a:p>
          <a:p>
            <a:pPr algn="ctr">
              <a:lnSpc>
                <a:spcPct val="100000"/>
              </a:lnSpc>
              <a:spcBef>
                <a:spcPts val="690"/>
              </a:spcBef>
            </a:pPr>
            <a:r>
              <a:rPr sz="1100" spc="-105" dirty="0">
                <a:solidFill>
                  <a:srgbClr val="003366"/>
                </a:solidFill>
                <a:latin typeface="Tahoma" panose="020B0604030504040204" pitchFamily="34" charset="0"/>
                <a:ea typeface="Tahoma" panose="020B0604030504040204" pitchFamily="34" charset="0"/>
                <a:cs typeface="Tahoma" panose="020B0604030504040204" pitchFamily="34" charset="0"/>
              </a:rPr>
              <a:t>Relatore: </a:t>
            </a:r>
            <a:r>
              <a:rPr sz="1100" dirty="0">
                <a:solidFill>
                  <a:srgbClr val="003366"/>
                </a:solidFill>
                <a:latin typeface="Tahoma"/>
                <a:cs typeface="Tahoma"/>
              </a:rPr>
              <a:t>Prof.</a:t>
            </a:r>
            <a:r>
              <a:rPr sz="1100" spc="-35" dirty="0">
                <a:solidFill>
                  <a:srgbClr val="003366"/>
                </a:solidFill>
                <a:latin typeface="Tahoma"/>
                <a:cs typeface="Tahoma"/>
              </a:rPr>
              <a:t> </a:t>
            </a:r>
            <a:r>
              <a:rPr sz="1100" spc="-30" dirty="0">
                <a:solidFill>
                  <a:srgbClr val="003366"/>
                </a:solidFill>
                <a:latin typeface="Tahoma"/>
                <a:cs typeface="Tahoma"/>
              </a:rPr>
              <a:t>Riccardo </a:t>
            </a:r>
            <a:r>
              <a:rPr sz="1100" spc="-10" dirty="0">
                <a:solidFill>
                  <a:srgbClr val="003366"/>
                </a:solidFill>
                <a:latin typeface="Tahoma"/>
                <a:cs typeface="Tahoma"/>
              </a:rPr>
              <a:t>Berta</a:t>
            </a:r>
            <a:endParaRPr sz="1100" dirty="0">
              <a:latin typeface="Tahoma"/>
              <a:cs typeface="Tahoma"/>
            </a:endParaRPr>
          </a:p>
          <a:p>
            <a:pPr algn="ctr">
              <a:lnSpc>
                <a:spcPct val="100000"/>
              </a:lnSpc>
              <a:spcBef>
                <a:spcPts val="35"/>
              </a:spcBef>
            </a:pPr>
            <a:r>
              <a:rPr sz="1100" spc="-105" dirty="0">
                <a:solidFill>
                  <a:srgbClr val="003366"/>
                </a:solidFill>
                <a:latin typeface="Tahoma" panose="020B0604030504040204" pitchFamily="34" charset="0"/>
                <a:ea typeface="Tahoma" panose="020B0604030504040204" pitchFamily="34" charset="0"/>
                <a:cs typeface="Tahoma" panose="020B0604030504040204" pitchFamily="34" charset="0"/>
              </a:rPr>
              <a:t>Correlatore:</a:t>
            </a:r>
            <a:r>
              <a:rPr sz="1100" spc="100" dirty="0">
                <a:solidFill>
                  <a:srgbClr val="003366"/>
                </a:solidFill>
                <a:latin typeface="Arial Black"/>
                <a:cs typeface="Arial Black"/>
              </a:rPr>
              <a:t> </a:t>
            </a:r>
            <a:r>
              <a:rPr sz="1100" dirty="0">
                <a:solidFill>
                  <a:srgbClr val="003366"/>
                </a:solidFill>
                <a:latin typeface="Tahoma"/>
                <a:cs typeface="Tahoma"/>
              </a:rPr>
              <a:t>Dott.</a:t>
            </a:r>
            <a:r>
              <a:rPr sz="1100" spc="10" dirty="0">
                <a:solidFill>
                  <a:srgbClr val="003366"/>
                </a:solidFill>
                <a:latin typeface="Tahoma"/>
                <a:cs typeface="Tahoma"/>
              </a:rPr>
              <a:t> </a:t>
            </a:r>
            <a:r>
              <a:rPr sz="1100" dirty="0">
                <a:solidFill>
                  <a:srgbClr val="003366"/>
                </a:solidFill>
                <a:latin typeface="Tahoma"/>
                <a:cs typeface="Tahoma"/>
              </a:rPr>
              <a:t>Matteo</a:t>
            </a:r>
            <a:r>
              <a:rPr sz="1100" spc="5" dirty="0">
                <a:solidFill>
                  <a:srgbClr val="003366"/>
                </a:solidFill>
                <a:latin typeface="Tahoma"/>
                <a:cs typeface="Tahoma"/>
              </a:rPr>
              <a:t> </a:t>
            </a:r>
            <a:r>
              <a:rPr sz="1100" spc="-10" dirty="0">
                <a:solidFill>
                  <a:srgbClr val="003366"/>
                </a:solidFill>
                <a:latin typeface="Tahoma"/>
                <a:cs typeface="Tahoma"/>
              </a:rPr>
              <a:t>Fresta</a:t>
            </a:r>
            <a:endParaRPr sz="1100" dirty="0">
              <a:latin typeface="Tahoma"/>
              <a:cs typeface="Tahoma"/>
            </a:endParaRPr>
          </a:p>
          <a:p>
            <a:pPr marL="635" algn="ctr">
              <a:lnSpc>
                <a:spcPct val="100000"/>
              </a:lnSpc>
              <a:spcBef>
                <a:spcPts val="520"/>
              </a:spcBef>
            </a:pPr>
            <a:r>
              <a:rPr sz="1100" spc="-45" dirty="0">
                <a:solidFill>
                  <a:srgbClr val="003366"/>
                </a:solidFill>
                <a:latin typeface="Tahoma"/>
                <a:cs typeface="Tahoma"/>
              </a:rPr>
              <a:t>Febbraio,</a:t>
            </a:r>
            <a:r>
              <a:rPr sz="1100" spc="-5" dirty="0">
                <a:solidFill>
                  <a:srgbClr val="003366"/>
                </a:solidFill>
                <a:latin typeface="Tahoma"/>
                <a:cs typeface="Tahoma"/>
              </a:rPr>
              <a:t> </a:t>
            </a:r>
            <a:r>
              <a:rPr sz="1100" spc="-20" dirty="0">
                <a:solidFill>
                  <a:srgbClr val="003366"/>
                </a:solidFill>
                <a:latin typeface="Tahoma"/>
                <a:cs typeface="Tahoma"/>
              </a:rPr>
              <a:t>2026</a:t>
            </a:r>
            <a:endParaRPr sz="1100" dirty="0">
              <a:latin typeface="Tahoma"/>
              <a:cs typeface="Tahom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50" dirty="0"/>
              <a:t>Obiettivo</a:t>
            </a:r>
            <a:r>
              <a:rPr spc="-85" dirty="0"/>
              <a:t> </a:t>
            </a:r>
            <a:r>
              <a:rPr spc="-80" dirty="0"/>
              <a:t>del</a:t>
            </a:r>
            <a:r>
              <a:rPr spc="-55" dirty="0"/>
              <a:t> </a:t>
            </a:r>
            <a:r>
              <a:rPr spc="-80" dirty="0"/>
              <a:t>progetto</a:t>
            </a: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110388" y="1161584"/>
            <a:ext cx="1944038" cy="1385958"/>
          </a:xfrm>
          <a:prstGeom prst="rect">
            <a:avLst/>
          </a:prstGeom>
        </p:spPr>
      </p:pic>
      <p:sp>
        <p:nvSpPr>
          <p:cNvPr id="5" name="object 5"/>
          <p:cNvSpPr txBox="1"/>
          <p:nvPr/>
        </p:nvSpPr>
        <p:spPr>
          <a:xfrm>
            <a:off x="2265235" y="1144522"/>
            <a:ext cx="2208530" cy="1425647"/>
          </a:xfrm>
          <a:prstGeom prst="rect">
            <a:avLst/>
          </a:prstGeom>
        </p:spPr>
        <p:txBody>
          <a:bodyPr vert="horz" wrap="square" lIns="0" tIns="6985" rIns="0" bIns="0" rtlCol="0">
            <a:spAutoFit/>
          </a:bodyPr>
          <a:lstStyle/>
          <a:p>
            <a:pPr marL="173990" marR="30480" indent="-136525">
              <a:lnSpc>
                <a:spcPct val="102600"/>
              </a:lnSpc>
              <a:spcBef>
                <a:spcPts val="55"/>
              </a:spcBef>
              <a:buClr>
                <a:srgbClr val="003366"/>
              </a:buClr>
              <a:buFont typeface="Arial"/>
              <a:buChar char="•"/>
              <a:tabLst>
                <a:tab pos="176530" algn="l"/>
              </a:tabLst>
            </a:pPr>
            <a:r>
              <a:rPr sz="1100" spc="-35" dirty="0">
                <a:latin typeface="Tahoma"/>
                <a:cs typeface="Tahoma"/>
              </a:rPr>
              <a:t>Progettare</a:t>
            </a:r>
            <a:r>
              <a:rPr sz="1100" spc="-30" dirty="0">
                <a:latin typeface="Tahoma"/>
                <a:cs typeface="Tahoma"/>
              </a:rPr>
              <a:t> </a:t>
            </a:r>
            <a:r>
              <a:rPr sz="1100" dirty="0">
                <a:latin typeface="Tahoma"/>
                <a:cs typeface="Tahoma"/>
              </a:rPr>
              <a:t>e</a:t>
            </a:r>
            <a:r>
              <a:rPr sz="1100" spc="-30" dirty="0">
                <a:latin typeface="Tahoma"/>
                <a:cs typeface="Tahoma"/>
              </a:rPr>
              <a:t> </a:t>
            </a:r>
            <a:r>
              <a:rPr sz="1100" spc="-50" dirty="0">
                <a:latin typeface="Tahoma"/>
                <a:cs typeface="Tahoma"/>
              </a:rPr>
              <a:t>sviluppare</a:t>
            </a:r>
            <a:r>
              <a:rPr sz="1100" spc="-30" dirty="0">
                <a:latin typeface="Tahoma"/>
                <a:cs typeface="Tahoma"/>
              </a:rPr>
              <a:t> </a:t>
            </a:r>
            <a:r>
              <a:rPr sz="1100" spc="-10" dirty="0">
                <a:latin typeface="Tahoma"/>
                <a:cs typeface="Tahoma"/>
              </a:rPr>
              <a:t>un</a:t>
            </a:r>
            <a:r>
              <a:rPr sz="1100" spc="-35" dirty="0">
                <a:latin typeface="Tahoma"/>
                <a:cs typeface="Tahoma"/>
              </a:rPr>
              <a:t> sistema 	</a:t>
            </a:r>
            <a:r>
              <a:rPr sz="1100" spc="-70" dirty="0">
                <a:latin typeface="Tahoma"/>
                <a:cs typeface="Tahoma"/>
              </a:rPr>
              <a:t>embedded</a:t>
            </a:r>
            <a:r>
              <a:rPr sz="1100" spc="5" dirty="0">
                <a:latin typeface="Tahoma"/>
                <a:cs typeface="Tahoma"/>
              </a:rPr>
              <a:t> </a:t>
            </a:r>
            <a:r>
              <a:rPr sz="1100" spc="-45" dirty="0" err="1">
                <a:latin typeface="Tahoma"/>
                <a:cs typeface="Tahoma"/>
              </a:rPr>
              <a:t>multisensore</a:t>
            </a:r>
            <a:r>
              <a:rPr sz="1100" spc="15" dirty="0">
                <a:latin typeface="Tahoma"/>
                <a:cs typeface="Tahoma"/>
              </a:rPr>
              <a:t> </a:t>
            </a:r>
            <a:r>
              <a:rPr lang="it-IT" sz="1100" spc="-25" dirty="0">
                <a:latin typeface="Tahoma"/>
                <a:cs typeface="Tahoma"/>
              </a:rPr>
              <a:t>finalizzato ad</a:t>
            </a:r>
            <a:r>
              <a:rPr sz="1100" spc="-25" dirty="0">
                <a:latin typeface="Tahoma"/>
                <a:cs typeface="Tahoma"/>
              </a:rPr>
              <a:t> </a:t>
            </a:r>
            <a:r>
              <a:rPr sz="1100" spc="-45" dirty="0" err="1">
                <a:latin typeface="Tahoma"/>
                <a:cs typeface="Tahoma"/>
              </a:rPr>
              <a:t>effettuare</a:t>
            </a:r>
            <a:r>
              <a:rPr sz="1100" spc="-15" dirty="0">
                <a:latin typeface="Tahoma"/>
                <a:cs typeface="Tahoma"/>
              </a:rPr>
              <a:t> </a:t>
            </a:r>
            <a:r>
              <a:rPr sz="1100" spc="-45" dirty="0">
                <a:latin typeface="Tahoma"/>
                <a:cs typeface="Tahoma"/>
              </a:rPr>
              <a:t>esperimenti</a:t>
            </a:r>
            <a:r>
              <a:rPr sz="1100" spc="-15" dirty="0">
                <a:latin typeface="Tahoma"/>
                <a:cs typeface="Tahoma"/>
              </a:rPr>
              <a:t> </a:t>
            </a:r>
            <a:r>
              <a:rPr sz="1100" spc="-25" dirty="0">
                <a:latin typeface="Tahoma"/>
                <a:cs typeface="Tahoma"/>
              </a:rPr>
              <a:t>di 	</a:t>
            </a:r>
            <a:r>
              <a:rPr sz="1100" spc="-50" dirty="0">
                <a:solidFill>
                  <a:srgbClr val="003366"/>
                </a:solidFill>
                <a:latin typeface="Tahoma"/>
                <a:cs typeface="Tahoma"/>
              </a:rPr>
              <a:t>biofeedback</a:t>
            </a:r>
            <a:r>
              <a:rPr sz="1100" spc="-25" dirty="0">
                <a:latin typeface="Tahoma"/>
                <a:cs typeface="Tahoma"/>
              </a:rPr>
              <a:t> per </a:t>
            </a:r>
            <a:r>
              <a:rPr sz="1100" spc="-45" dirty="0" err="1">
                <a:latin typeface="Tahoma"/>
                <a:cs typeface="Tahoma"/>
              </a:rPr>
              <a:t>monitorare</a:t>
            </a:r>
            <a:r>
              <a:rPr sz="1100" spc="-20" dirty="0">
                <a:latin typeface="Tahoma"/>
                <a:cs typeface="Tahoma"/>
              </a:rPr>
              <a:t> </a:t>
            </a:r>
            <a:r>
              <a:rPr lang="it-IT" sz="1100" spc="-25" dirty="0">
                <a:latin typeface="Tahoma"/>
                <a:cs typeface="Tahoma"/>
              </a:rPr>
              <a:t>parametri fisiologici utili</a:t>
            </a:r>
            <a:r>
              <a:rPr sz="1100" spc="-10" dirty="0">
                <a:latin typeface="Tahoma"/>
                <a:cs typeface="Tahoma"/>
              </a:rPr>
              <a:t>;</a:t>
            </a:r>
            <a:endParaRPr sz="1100" dirty="0">
              <a:latin typeface="Tahoma"/>
              <a:cs typeface="Tahoma"/>
            </a:endParaRPr>
          </a:p>
          <a:p>
            <a:pPr marL="173990" marR="125730" indent="-136525">
              <a:lnSpc>
                <a:spcPct val="102600"/>
              </a:lnSpc>
              <a:spcBef>
                <a:spcPts val="300"/>
              </a:spcBef>
              <a:buClr>
                <a:srgbClr val="003366"/>
              </a:buClr>
              <a:buFont typeface="Arial"/>
              <a:buChar char="•"/>
              <a:tabLst>
                <a:tab pos="176530" algn="l"/>
              </a:tabLst>
            </a:pPr>
            <a:r>
              <a:rPr sz="1100" spc="-40" dirty="0">
                <a:latin typeface="Tahoma"/>
                <a:cs typeface="Tahoma"/>
              </a:rPr>
              <a:t>Sviluppare</a:t>
            </a:r>
            <a:r>
              <a:rPr sz="1100" spc="-15" dirty="0">
                <a:latin typeface="Tahoma"/>
                <a:cs typeface="Tahoma"/>
              </a:rPr>
              <a:t> </a:t>
            </a:r>
            <a:r>
              <a:rPr sz="1100" spc="-30" dirty="0">
                <a:latin typeface="Tahoma"/>
                <a:cs typeface="Tahoma"/>
              </a:rPr>
              <a:t>un’</a:t>
            </a:r>
            <a:r>
              <a:rPr sz="1100" spc="-30" dirty="0">
                <a:solidFill>
                  <a:srgbClr val="003366"/>
                </a:solidFill>
                <a:latin typeface="Tahoma"/>
                <a:cs typeface="Tahoma"/>
              </a:rPr>
              <a:t>applicazione</a:t>
            </a:r>
            <a:r>
              <a:rPr sz="1100" spc="-10" dirty="0">
                <a:solidFill>
                  <a:srgbClr val="003366"/>
                </a:solidFill>
                <a:latin typeface="Tahoma"/>
                <a:cs typeface="Tahoma"/>
              </a:rPr>
              <a:t> </a:t>
            </a:r>
            <a:r>
              <a:rPr sz="1100" spc="-25" dirty="0">
                <a:latin typeface="Tahoma"/>
                <a:cs typeface="Tahoma"/>
              </a:rPr>
              <a:t>che 	</a:t>
            </a:r>
            <a:r>
              <a:rPr sz="1100" spc="-35" dirty="0">
                <a:latin typeface="Tahoma"/>
                <a:cs typeface="Tahoma"/>
              </a:rPr>
              <a:t>permetta</a:t>
            </a:r>
            <a:r>
              <a:rPr sz="1100" spc="-30" dirty="0">
                <a:latin typeface="Tahoma"/>
                <a:cs typeface="Tahoma"/>
              </a:rPr>
              <a:t> </a:t>
            </a:r>
            <a:r>
              <a:rPr sz="1100" dirty="0">
                <a:latin typeface="Tahoma"/>
                <a:cs typeface="Tahoma"/>
              </a:rPr>
              <a:t>la</a:t>
            </a:r>
            <a:r>
              <a:rPr sz="1100" spc="-30" dirty="0">
                <a:latin typeface="Tahoma"/>
                <a:cs typeface="Tahoma"/>
              </a:rPr>
              <a:t> </a:t>
            </a:r>
            <a:r>
              <a:rPr sz="1100" spc="-20" dirty="0">
                <a:latin typeface="Tahoma"/>
                <a:cs typeface="Tahoma"/>
              </a:rPr>
              <a:t>facile</a:t>
            </a:r>
            <a:r>
              <a:rPr sz="1100" spc="-30" dirty="0">
                <a:latin typeface="Tahoma"/>
                <a:cs typeface="Tahoma"/>
              </a:rPr>
              <a:t> </a:t>
            </a:r>
            <a:r>
              <a:rPr sz="1100" spc="-35" dirty="0">
                <a:latin typeface="Tahoma"/>
                <a:cs typeface="Tahoma"/>
              </a:rPr>
              <a:t>visualizzazione 	</a:t>
            </a:r>
            <a:r>
              <a:rPr sz="1100" spc="-20" dirty="0">
                <a:latin typeface="Tahoma"/>
                <a:cs typeface="Tahoma"/>
              </a:rPr>
              <a:t>dei</a:t>
            </a:r>
            <a:r>
              <a:rPr sz="1100" spc="-70" dirty="0">
                <a:latin typeface="Tahoma"/>
                <a:cs typeface="Tahoma"/>
              </a:rPr>
              <a:t> </a:t>
            </a:r>
            <a:r>
              <a:rPr sz="1100" dirty="0">
                <a:latin typeface="Tahoma"/>
                <a:cs typeface="Tahoma"/>
              </a:rPr>
              <a:t>dati</a:t>
            </a:r>
            <a:r>
              <a:rPr sz="1100" spc="-65" dirty="0">
                <a:latin typeface="Tahoma"/>
                <a:cs typeface="Tahoma"/>
              </a:rPr>
              <a:t> </a:t>
            </a:r>
            <a:r>
              <a:rPr sz="1100" spc="-10" dirty="0">
                <a:latin typeface="Tahoma"/>
                <a:cs typeface="Tahoma"/>
              </a:rPr>
              <a:t>raccolti.</a:t>
            </a:r>
            <a:endParaRPr sz="1100" dirty="0">
              <a:latin typeface="Tahoma"/>
              <a:cs typeface="Tahoma"/>
            </a:endParaRPr>
          </a:p>
        </p:txBody>
      </p:sp>
      <p:sp>
        <p:nvSpPr>
          <p:cNvPr id="6" name="object 6"/>
          <p:cNvSpPr/>
          <p:nvPr/>
        </p:nvSpPr>
        <p:spPr>
          <a:xfrm>
            <a:off x="0" y="3346361"/>
            <a:ext cx="4608195" cy="109855"/>
          </a:xfrm>
          <a:custGeom>
            <a:avLst/>
            <a:gdLst/>
            <a:ahLst/>
            <a:cxnLst/>
            <a:rect l="l" t="t" r="r" b="b"/>
            <a:pathLst>
              <a:path w="4608195" h="109854">
                <a:moveTo>
                  <a:pt x="4608004" y="0"/>
                </a:moveTo>
                <a:lnTo>
                  <a:pt x="3225584" y="0"/>
                </a:lnTo>
                <a:lnTo>
                  <a:pt x="1382420" y="0"/>
                </a:lnTo>
                <a:lnTo>
                  <a:pt x="0" y="0"/>
                </a:lnTo>
                <a:lnTo>
                  <a:pt x="0" y="109639"/>
                </a:lnTo>
                <a:lnTo>
                  <a:pt x="1382407" y="109639"/>
                </a:lnTo>
                <a:lnTo>
                  <a:pt x="3225584" y="109639"/>
                </a:lnTo>
                <a:lnTo>
                  <a:pt x="4608004" y="109639"/>
                </a:lnTo>
                <a:lnTo>
                  <a:pt x="4608004" y="0"/>
                </a:lnTo>
                <a:close/>
              </a:path>
            </a:pathLst>
          </a:custGeom>
          <a:solidFill>
            <a:srgbClr val="003366"/>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8" name="object 8"/>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5" action="ppaction://hlinksldjump"/>
              </a:rPr>
              <a:t>Sistema</a:t>
            </a:r>
            <a:r>
              <a:rPr sz="600" spc="20"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per</a:t>
            </a:r>
            <a:r>
              <a:rPr sz="600" spc="20"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Esperimenti</a:t>
            </a:r>
            <a:r>
              <a:rPr sz="600" spc="25"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di</a:t>
            </a:r>
            <a:r>
              <a:rPr sz="600" spc="25"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Biofeedback</a:t>
            </a:r>
            <a:endParaRPr sz="600">
              <a:latin typeface="Arial MT"/>
              <a:cs typeface="Arial MT"/>
            </a:endParaRPr>
          </a:p>
        </p:txBody>
      </p:sp>
      <p:sp>
        <p:nvSpPr>
          <p:cNvPr id="9" name="object 9"/>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2</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9961" y="99829"/>
            <a:ext cx="1452245" cy="288290"/>
          </a:xfrm>
          <a:prstGeom prst="rect">
            <a:avLst/>
          </a:prstGeom>
        </p:spPr>
        <p:txBody>
          <a:bodyPr vert="horz" wrap="square" lIns="0" tIns="15240" rIns="0" bIns="0" rtlCol="0">
            <a:spAutoFit/>
          </a:bodyPr>
          <a:lstStyle/>
          <a:p>
            <a:pPr marL="12700">
              <a:lnSpc>
                <a:spcPct val="100000"/>
              </a:lnSpc>
              <a:spcBef>
                <a:spcPts val="120"/>
              </a:spcBef>
            </a:pPr>
            <a:r>
              <a:rPr sz="1700" spc="-80" dirty="0">
                <a:solidFill>
                  <a:srgbClr val="FFFFFF"/>
                </a:solidFill>
                <a:latin typeface="Tahoma"/>
                <a:cs typeface="Tahoma"/>
              </a:rPr>
              <a:t>Flusso</a:t>
            </a:r>
            <a:r>
              <a:rPr sz="1700" spc="-45" dirty="0">
                <a:solidFill>
                  <a:srgbClr val="FFFFFF"/>
                </a:solidFill>
                <a:latin typeface="Tahoma"/>
                <a:cs typeface="Tahoma"/>
              </a:rPr>
              <a:t> </a:t>
            </a:r>
            <a:r>
              <a:rPr sz="1700" spc="-80" dirty="0">
                <a:solidFill>
                  <a:srgbClr val="FFFFFF"/>
                </a:solidFill>
                <a:latin typeface="Tahoma"/>
                <a:cs typeface="Tahoma"/>
              </a:rPr>
              <a:t>del</a:t>
            </a:r>
            <a:r>
              <a:rPr sz="1700" spc="-40" dirty="0">
                <a:solidFill>
                  <a:srgbClr val="FFFFFF"/>
                </a:solidFill>
                <a:latin typeface="Tahoma"/>
                <a:cs typeface="Tahoma"/>
              </a:rPr>
              <a:t> </a:t>
            </a:r>
            <a:r>
              <a:rPr sz="1700" spc="-85" dirty="0">
                <a:solidFill>
                  <a:srgbClr val="FFFFFF"/>
                </a:solidFill>
                <a:latin typeface="Tahoma"/>
                <a:cs typeface="Tahoma"/>
              </a:rPr>
              <a:t>lavoro</a:t>
            </a:r>
            <a:endParaRPr sz="1700">
              <a:latin typeface="Tahoma"/>
              <a:cs typeface="Tahoma"/>
            </a:endParaRP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359994" y="1033573"/>
            <a:ext cx="3888028" cy="1387135"/>
          </a:xfrm>
          <a:prstGeom prst="rect">
            <a:avLst/>
          </a:prstGeom>
        </p:spPr>
      </p:pic>
      <p:sp>
        <p:nvSpPr>
          <p:cNvPr id="5" name="object 5"/>
          <p:cNvSpPr txBox="1"/>
          <p:nvPr/>
        </p:nvSpPr>
        <p:spPr>
          <a:xfrm>
            <a:off x="1612226" y="2441535"/>
            <a:ext cx="1383665"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Tahoma"/>
                <a:cs typeface="Tahoma"/>
              </a:rPr>
              <a:t>Flusso</a:t>
            </a:r>
            <a:r>
              <a:rPr sz="1100" spc="-45" dirty="0">
                <a:latin typeface="Tahoma"/>
                <a:cs typeface="Tahoma"/>
              </a:rPr>
              <a:t> </a:t>
            </a:r>
            <a:r>
              <a:rPr sz="1100" spc="-20" dirty="0">
                <a:latin typeface="Tahoma"/>
                <a:cs typeface="Tahoma"/>
              </a:rPr>
              <a:t>del</a:t>
            </a:r>
            <a:r>
              <a:rPr sz="1100" spc="-40" dirty="0">
                <a:latin typeface="Tahoma"/>
                <a:cs typeface="Tahoma"/>
              </a:rPr>
              <a:t> lavoro </a:t>
            </a:r>
            <a:r>
              <a:rPr sz="1100" dirty="0">
                <a:latin typeface="Tahoma"/>
                <a:cs typeface="Tahoma"/>
              </a:rPr>
              <a:t>di</a:t>
            </a:r>
            <a:r>
              <a:rPr sz="1100" spc="-40" dirty="0">
                <a:latin typeface="Tahoma"/>
                <a:cs typeface="Tahoma"/>
              </a:rPr>
              <a:t> </a:t>
            </a:r>
            <a:r>
              <a:rPr sz="1100" spc="-20" dirty="0">
                <a:latin typeface="Tahoma"/>
                <a:cs typeface="Tahoma"/>
              </a:rPr>
              <a:t>tesi</a:t>
            </a:r>
            <a:endParaRPr sz="1100">
              <a:latin typeface="Tahoma"/>
              <a:cs typeface="Tahoma"/>
            </a:endParaRPr>
          </a:p>
        </p:txBody>
      </p:sp>
      <p:sp>
        <p:nvSpPr>
          <p:cNvPr id="6" name="object 6"/>
          <p:cNvSpPr/>
          <p:nvPr/>
        </p:nvSpPr>
        <p:spPr>
          <a:xfrm>
            <a:off x="0" y="3346348"/>
            <a:ext cx="4608195" cy="109855"/>
          </a:xfrm>
          <a:custGeom>
            <a:avLst/>
            <a:gdLst/>
            <a:ahLst/>
            <a:cxnLst/>
            <a:rect l="l" t="t" r="r" b="b"/>
            <a:pathLst>
              <a:path w="4608195" h="109854">
                <a:moveTo>
                  <a:pt x="4608004" y="0"/>
                </a:moveTo>
                <a:lnTo>
                  <a:pt x="3225584" y="0"/>
                </a:lnTo>
                <a:lnTo>
                  <a:pt x="1382420" y="0"/>
                </a:lnTo>
                <a:lnTo>
                  <a:pt x="0" y="0"/>
                </a:lnTo>
                <a:lnTo>
                  <a:pt x="0" y="109651"/>
                </a:lnTo>
                <a:lnTo>
                  <a:pt x="1382407"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8" name="object 8"/>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5" action="ppaction://hlinksldjump"/>
              </a:rPr>
              <a:t>Sistema</a:t>
            </a:r>
            <a:r>
              <a:rPr sz="600" spc="20"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per</a:t>
            </a:r>
            <a:r>
              <a:rPr sz="600" spc="20"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Esperimenti</a:t>
            </a:r>
            <a:r>
              <a:rPr sz="600" spc="25"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di</a:t>
            </a:r>
            <a:r>
              <a:rPr sz="600" spc="25"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Biofeedback</a:t>
            </a:r>
            <a:endParaRPr sz="600">
              <a:latin typeface="Arial MT"/>
              <a:cs typeface="Arial MT"/>
            </a:endParaRPr>
          </a:p>
        </p:txBody>
      </p:sp>
      <p:sp>
        <p:nvSpPr>
          <p:cNvPr id="9" name="object 9"/>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3</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5" dirty="0"/>
              <a:t>Sistema</a:t>
            </a:r>
            <a:r>
              <a:rPr spc="-40" dirty="0"/>
              <a:t> </a:t>
            </a:r>
            <a:r>
              <a:rPr spc="-95" dirty="0"/>
              <a:t>Embedded:</a:t>
            </a:r>
            <a:r>
              <a:rPr spc="35" dirty="0"/>
              <a:t> </a:t>
            </a:r>
            <a:r>
              <a:rPr spc="-55" dirty="0"/>
              <a:t>Arduino</a:t>
            </a:r>
          </a:p>
        </p:txBody>
      </p:sp>
      <p:pic>
        <p:nvPicPr>
          <p:cNvPr id="3" name="object 3"/>
          <p:cNvPicPr/>
          <p:nvPr/>
        </p:nvPicPr>
        <p:blipFill>
          <a:blip r:embed="rId3" cstate="print"/>
          <a:stretch>
            <a:fillRect/>
          </a:stretch>
        </p:blipFill>
        <p:spPr>
          <a:xfrm>
            <a:off x="3527996" y="47072"/>
            <a:ext cx="1080007" cy="423538"/>
          </a:xfrm>
          <a:prstGeom prst="rect">
            <a:avLst/>
          </a:prstGeom>
        </p:spPr>
      </p:pic>
      <p:sp>
        <p:nvSpPr>
          <p:cNvPr id="5" name="object 5"/>
          <p:cNvSpPr txBox="1"/>
          <p:nvPr/>
        </p:nvSpPr>
        <p:spPr>
          <a:xfrm>
            <a:off x="2228850" y="1182855"/>
            <a:ext cx="2176145" cy="1300480"/>
          </a:xfrm>
          <a:prstGeom prst="rect">
            <a:avLst/>
          </a:prstGeom>
        </p:spPr>
        <p:txBody>
          <a:bodyPr vert="horz" wrap="square" lIns="0" tIns="6985" rIns="0" bIns="0" rtlCol="0">
            <a:spAutoFit/>
          </a:bodyPr>
          <a:lstStyle/>
          <a:p>
            <a:pPr marL="173990" marR="81280" indent="-136525">
              <a:lnSpc>
                <a:spcPct val="102600"/>
              </a:lnSpc>
              <a:spcBef>
                <a:spcPts val="55"/>
              </a:spcBef>
              <a:buClr>
                <a:srgbClr val="003366"/>
              </a:buClr>
              <a:buFont typeface="Arial"/>
              <a:buChar char="•"/>
              <a:tabLst>
                <a:tab pos="176530" algn="l"/>
              </a:tabLst>
            </a:pPr>
            <a:r>
              <a:rPr sz="1100" spc="-20" dirty="0">
                <a:latin typeface="Tahoma"/>
                <a:cs typeface="Tahoma"/>
              </a:rPr>
              <a:t>Arduino</a:t>
            </a:r>
            <a:r>
              <a:rPr sz="1100" spc="-5" dirty="0">
                <a:latin typeface="Tahoma"/>
                <a:cs typeface="Tahoma"/>
              </a:rPr>
              <a:t> </a:t>
            </a:r>
            <a:r>
              <a:rPr sz="1100" spc="-10" dirty="0">
                <a:latin typeface="Tahoma"/>
                <a:cs typeface="Tahoma"/>
              </a:rPr>
              <a:t>Nano</a:t>
            </a:r>
            <a:r>
              <a:rPr sz="1100" spc="5" dirty="0">
                <a:latin typeface="Tahoma"/>
                <a:cs typeface="Tahoma"/>
              </a:rPr>
              <a:t> </a:t>
            </a:r>
            <a:r>
              <a:rPr sz="1100" spc="-20" dirty="0">
                <a:latin typeface="Tahoma"/>
                <a:cs typeface="Tahoma"/>
              </a:rPr>
              <a:t>33</a:t>
            </a:r>
            <a:r>
              <a:rPr sz="1100" spc="-5" dirty="0">
                <a:latin typeface="Tahoma"/>
                <a:cs typeface="Tahoma"/>
              </a:rPr>
              <a:t> </a:t>
            </a:r>
            <a:r>
              <a:rPr sz="1100" dirty="0">
                <a:latin typeface="Tahoma"/>
                <a:cs typeface="Tahoma"/>
              </a:rPr>
              <a:t>BLE </a:t>
            </a:r>
            <a:r>
              <a:rPr sz="1100" spc="-60" dirty="0">
                <a:latin typeface="Tahoma"/>
                <a:cs typeface="Tahoma"/>
              </a:rPr>
              <a:t>Sense</a:t>
            </a:r>
            <a:r>
              <a:rPr sz="1100" spc="5" dirty="0">
                <a:latin typeface="Tahoma"/>
                <a:cs typeface="Tahoma"/>
              </a:rPr>
              <a:t> </a:t>
            </a:r>
            <a:r>
              <a:rPr sz="1100" spc="-35" dirty="0">
                <a:latin typeface="Tahoma"/>
                <a:cs typeface="Tahoma"/>
              </a:rPr>
              <a:t>con 	</a:t>
            </a:r>
            <a:r>
              <a:rPr sz="1100" spc="-10" dirty="0">
                <a:latin typeface="Tahoma"/>
                <a:cs typeface="Tahoma"/>
              </a:rPr>
              <a:t>un</a:t>
            </a:r>
            <a:r>
              <a:rPr sz="1100" spc="-55" dirty="0">
                <a:latin typeface="Tahoma"/>
                <a:cs typeface="Tahoma"/>
              </a:rPr>
              <a:t> </a:t>
            </a:r>
            <a:r>
              <a:rPr sz="1100" spc="-30" dirty="0">
                <a:latin typeface="Tahoma"/>
                <a:cs typeface="Tahoma"/>
              </a:rPr>
              <a:t>modulo</a:t>
            </a:r>
            <a:r>
              <a:rPr sz="1100" spc="-55" dirty="0">
                <a:latin typeface="Tahoma"/>
                <a:cs typeface="Tahoma"/>
              </a:rPr>
              <a:t> </a:t>
            </a:r>
            <a:r>
              <a:rPr sz="1100" spc="-30" dirty="0">
                <a:latin typeface="Tahoma"/>
                <a:cs typeface="Tahoma"/>
              </a:rPr>
              <a:t>aggiuntivo</a:t>
            </a:r>
            <a:r>
              <a:rPr sz="1100" spc="-45" dirty="0">
                <a:latin typeface="Tahoma"/>
                <a:cs typeface="Tahoma"/>
              </a:rPr>
              <a:t> </a:t>
            </a:r>
            <a:r>
              <a:rPr sz="1100" spc="-25" dirty="0">
                <a:latin typeface="Tahoma"/>
                <a:cs typeface="Tahoma"/>
              </a:rPr>
              <a:t>per</a:t>
            </a:r>
            <a:r>
              <a:rPr sz="1100" spc="-50" dirty="0">
                <a:latin typeface="Tahoma"/>
                <a:cs typeface="Tahoma"/>
              </a:rPr>
              <a:t> </a:t>
            </a:r>
            <a:r>
              <a:rPr sz="1100" spc="-35" dirty="0">
                <a:latin typeface="Tahoma"/>
                <a:cs typeface="Tahoma"/>
              </a:rPr>
              <a:t>la 	</a:t>
            </a:r>
            <a:r>
              <a:rPr sz="1100" spc="-10" dirty="0">
                <a:latin typeface="Tahoma"/>
                <a:cs typeface="Tahoma"/>
              </a:rPr>
              <a:t>batteria;</a:t>
            </a:r>
            <a:endParaRPr sz="1100" dirty="0">
              <a:latin typeface="Tahoma"/>
              <a:cs typeface="Tahoma"/>
            </a:endParaRPr>
          </a:p>
          <a:p>
            <a:pPr marL="173990" marR="37465" indent="-136525">
              <a:lnSpc>
                <a:spcPct val="102600"/>
              </a:lnSpc>
              <a:spcBef>
                <a:spcPts val="300"/>
              </a:spcBef>
              <a:buClr>
                <a:srgbClr val="003366"/>
              </a:buClr>
              <a:buFont typeface="Arial"/>
              <a:buChar char="•"/>
              <a:tabLst>
                <a:tab pos="176530" algn="l"/>
              </a:tabLst>
            </a:pPr>
            <a:r>
              <a:rPr sz="1100" spc="-40" dirty="0">
                <a:latin typeface="Tahoma"/>
                <a:cs typeface="Tahoma"/>
              </a:rPr>
              <a:t>Comunicazione</a:t>
            </a:r>
            <a:r>
              <a:rPr sz="1100" spc="5" dirty="0">
                <a:latin typeface="Tahoma"/>
                <a:cs typeface="Tahoma"/>
              </a:rPr>
              <a:t> </a:t>
            </a:r>
            <a:r>
              <a:rPr sz="1100" spc="-20" dirty="0">
                <a:latin typeface="Tahoma"/>
                <a:cs typeface="Tahoma"/>
              </a:rPr>
              <a:t>tramite</a:t>
            </a:r>
            <a:r>
              <a:rPr sz="1100" spc="10" dirty="0">
                <a:latin typeface="Tahoma"/>
                <a:cs typeface="Tahoma"/>
              </a:rPr>
              <a:t> </a:t>
            </a:r>
            <a:r>
              <a:rPr sz="1100" spc="-10" dirty="0">
                <a:solidFill>
                  <a:srgbClr val="003366"/>
                </a:solidFill>
                <a:latin typeface="Tahoma"/>
                <a:cs typeface="Tahoma"/>
              </a:rPr>
              <a:t>Bluetooth 	</a:t>
            </a:r>
            <a:r>
              <a:rPr sz="1100" spc="-20" dirty="0">
                <a:solidFill>
                  <a:srgbClr val="003366"/>
                </a:solidFill>
                <a:latin typeface="Tahoma"/>
                <a:cs typeface="Tahoma"/>
              </a:rPr>
              <a:t>Low</a:t>
            </a:r>
            <a:r>
              <a:rPr sz="1100" spc="-50" dirty="0">
                <a:solidFill>
                  <a:srgbClr val="003366"/>
                </a:solidFill>
                <a:latin typeface="Tahoma"/>
                <a:cs typeface="Tahoma"/>
              </a:rPr>
              <a:t> </a:t>
            </a:r>
            <a:r>
              <a:rPr sz="1100" spc="-35" dirty="0">
                <a:solidFill>
                  <a:srgbClr val="003366"/>
                </a:solidFill>
                <a:latin typeface="Tahoma"/>
                <a:cs typeface="Tahoma"/>
              </a:rPr>
              <a:t>Energy</a:t>
            </a:r>
            <a:r>
              <a:rPr sz="1100" spc="-50" dirty="0">
                <a:solidFill>
                  <a:srgbClr val="003366"/>
                </a:solidFill>
                <a:latin typeface="Tahoma"/>
                <a:cs typeface="Tahoma"/>
              </a:rPr>
              <a:t> </a:t>
            </a:r>
            <a:r>
              <a:rPr sz="1100" spc="-10" dirty="0">
                <a:latin typeface="Tahoma"/>
                <a:cs typeface="Tahoma"/>
              </a:rPr>
              <a:t>integrata;</a:t>
            </a:r>
            <a:endParaRPr sz="1100" dirty="0">
              <a:latin typeface="Tahoma"/>
              <a:cs typeface="Tahoma"/>
            </a:endParaRPr>
          </a:p>
          <a:p>
            <a:pPr marL="173990" marR="30480" indent="-136525">
              <a:lnSpc>
                <a:spcPct val="102600"/>
              </a:lnSpc>
              <a:spcBef>
                <a:spcPts val="300"/>
              </a:spcBef>
              <a:buClr>
                <a:srgbClr val="003366"/>
              </a:buClr>
              <a:buFont typeface="Arial"/>
              <a:buChar char="•"/>
              <a:tabLst>
                <a:tab pos="176530" algn="l"/>
              </a:tabLst>
            </a:pPr>
            <a:r>
              <a:rPr sz="1100" dirty="0">
                <a:latin typeface="Tahoma"/>
                <a:cs typeface="Tahoma"/>
              </a:rPr>
              <a:t>Pin</a:t>
            </a:r>
            <a:r>
              <a:rPr sz="1100" spc="-15" dirty="0">
                <a:latin typeface="Tahoma"/>
                <a:cs typeface="Tahoma"/>
              </a:rPr>
              <a:t> </a:t>
            </a:r>
            <a:r>
              <a:rPr sz="1100" spc="-35" dirty="0">
                <a:latin typeface="Tahoma"/>
                <a:cs typeface="Tahoma"/>
              </a:rPr>
              <a:t>analogici</a:t>
            </a:r>
            <a:r>
              <a:rPr sz="1100" spc="-5" dirty="0">
                <a:latin typeface="Tahoma"/>
                <a:cs typeface="Tahoma"/>
              </a:rPr>
              <a:t> </a:t>
            </a:r>
            <a:r>
              <a:rPr sz="1100" spc="-25" dirty="0">
                <a:latin typeface="Tahoma"/>
                <a:cs typeface="Tahoma"/>
              </a:rPr>
              <a:t>saldati</a:t>
            </a:r>
            <a:r>
              <a:rPr sz="1100" spc="-10" dirty="0">
                <a:latin typeface="Tahoma"/>
                <a:cs typeface="Tahoma"/>
              </a:rPr>
              <a:t> </a:t>
            </a:r>
            <a:r>
              <a:rPr sz="1100" spc="-25" dirty="0">
                <a:latin typeface="Tahoma"/>
                <a:cs typeface="Tahoma"/>
              </a:rPr>
              <a:t>con</a:t>
            </a:r>
            <a:r>
              <a:rPr sz="1100" spc="-10" dirty="0">
                <a:latin typeface="Tahoma"/>
                <a:cs typeface="Tahoma"/>
              </a:rPr>
              <a:t> </a:t>
            </a:r>
            <a:r>
              <a:rPr sz="1100" spc="-20" dirty="0">
                <a:latin typeface="Tahoma"/>
                <a:cs typeface="Tahoma"/>
              </a:rPr>
              <a:t>cavi 	</a:t>
            </a:r>
            <a:r>
              <a:rPr sz="1100" spc="-10" dirty="0">
                <a:latin typeface="Tahoma"/>
                <a:cs typeface="Tahoma"/>
              </a:rPr>
              <a:t>Dupont</a:t>
            </a:r>
            <a:r>
              <a:rPr sz="1100" spc="-45" dirty="0">
                <a:latin typeface="Tahoma"/>
                <a:cs typeface="Tahoma"/>
              </a:rPr>
              <a:t> </a:t>
            </a:r>
            <a:r>
              <a:rPr sz="1100" spc="-25" dirty="0">
                <a:latin typeface="Tahoma"/>
                <a:cs typeface="Tahoma"/>
              </a:rPr>
              <a:t>per</a:t>
            </a:r>
            <a:r>
              <a:rPr sz="1100" spc="-45" dirty="0">
                <a:latin typeface="Tahoma"/>
                <a:cs typeface="Tahoma"/>
              </a:rPr>
              <a:t> </a:t>
            </a:r>
            <a:r>
              <a:rPr sz="1100" spc="-40" dirty="0">
                <a:latin typeface="Tahoma"/>
                <a:cs typeface="Tahoma"/>
              </a:rPr>
              <a:t>connettersi</a:t>
            </a:r>
            <a:r>
              <a:rPr sz="1100" spc="-45" dirty="0">
                <a:latin typeface="Tahoma"/>
                <a:cs typeface="Tahoma"/>
              </a:rPr>
              <a:t> </a:t>
            </a:r>
            <a:r>
              <a:rPr sz="1100" dirty="0">
                <a:latin typeface="Tahoma"/>
                <a:cs typeface="Tahoma"/>
              </a:rPr>
              <a:t>ai</a:t>
            </a:r>
            <a:r>
              <a:rPr sz="1100" spc="-45" dirty="0">
                <a:latin typeface="Tahoma"/>
                <a:cs typeface="Tahoma"/>
              </a:rPr>
              <a:t> sensori.</a:t>
            </a:r>
            <a:endParaRPr sz="1100" dirty="0">
              <a:latin typeface="Tahoma"/>
              <a:cs typeface="Tahoma"/>
            </a:endParaRPr>
          </a:p>
        </p:txBody>
      </p:sp>
      <p:sp>
        <p:nvSpPr>
          <p:cNvPr id="6" name="object 6"/>
          <p:cNvSpPr/>
          <p:nvPr/>
        </p:nvSpPr>
        <p:spPr>
          <a:xfrm>
            <a:off x="0" y="3346361"/>
            <a:ext cx="4608195" cy="109855"/>
          </a:xfrm>
          <a:custGeom>
            <a:avLst/>
            <a:gdLst/>
            <a:ahLst/>
            <a:cxnLst/>
            <a:rect l="l" t="t" r="r" b="b"/>
            <a:pathLst>
              <a:path w="4608195" h="109854">
                <a:moveTo>
                  <a:pt x="4608004" y="0"/>
                </a:moveTo>
                <a:lnTo>
                  <a:pt x="3225584" y="0"/>
                </a:lnTo>
                <a:lnTo>
                  <a:pt x="1382420" y="0"/>
                </a:lnTo>
                <a:lnTo>
                  <a:pt x="0" y="0"/>
                </a:lnTo>
                <a:lnTo>
                  <a:pt x="0" y="109639"/>
                </a:lnTo>
                <a:lnTo>
                  <a:pt x="1382407" y="109639"/>
                </a:lnTo>
                <a:lnTo>
                  <a:pt x="3225584" y="109639"/>
                </a:lnTo>
                <a:lnTo>
                  <a:pt x="4608004" y="109639"/>
                </a:lnTo>
                <a:lnTo>
                  <a:pt x="4608004" y="0"/>
                </a:lnTo>
                <a:close/>
              </a:path>
            </a:pathLst>
          </a:custGeom>
          <a:solidFill>
            <a:srgbClr val="003366"/>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8" name="object 8"/>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4" action="ppaction://hlinksldjump"/>
              </a:rPr>
              <a:t>Sistema</a:t>
            </a:r>
            <a:r>
              <a:rPr sz="600" spc="20"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per</a:t>
            </a:r>
            <a:r>
              <a:rPr sz="600" spc="20"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Esperimenti</a:t>
            </a:r>
            <a:r>
              <a:rPr sz="600" spc="25"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di</a:t>
            </a:r>
            <a:r>
              <a:rPr sz="600" spc="25"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Biofeedback</a:t>
            </a:r>
            <a:endParaRPr sz="600">
              <a:latin typeface="Arial MT"/>
              <a:cs typeface="Arial MT"/>
            </a:endParaRPr>
          </a:p>
        </p:txBody>
      </p:sp>
      <p:sp>
        <p:nvSpPr>
          <p:cNvPr id="9" name="object 9"/>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4</a:t>
            </a:fld>
            <a:r>
              <a:rPr spc="25" dirty="0"/>
              <a:t> </a:t>
            </a:r>
            <a:r>
              <a:rPr dirty="0"/>
              <a:t>of</a:t>
            </a:r>
            <a:r>
              <a:rPr spc="20" dirty="0"/>
              <a:t> </a:t>
            </a:r>
            <a:r>
              <a:rPr spc="-25" dirty="0"/>
              <a:t>1</a:t>
            </a:r>
            <a:r>
              <a:rPr lang="it-IT" spc="-25" dirty="0"/>
              <a:t>2</a:t>
            </a:r>
            <a:endParaRPr spc="-25" dirty="0"/>
          </a:p>
        </p:txBody>
      </p:sp>
      <p:pic>
        <p:nvPicPr>
          <p:cNvPr id="11" name="Immagine 10" descr="Immagine che contiene elettronica, Componente di circuito, Componente elettrico, Ingegneria elettronica&#10;&#10;Il contenuto generato dall'IA potrebbe non essere corretto.">
            <a:extLst>
              <a:ext uri="{FF2B5EF4-FFF2-40B4-BE49-F238E27FC236}">
                <a16:creationId xmlns:a16="http://schemas.microsoft.com/office/drawing/2014/main" id="{4816DC4F-2E89-981B-34DE-408F69C044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3850" y="852690"/>
            <a:ext cx="1752600" cy="1972156"/>
          </a:xfrm>
          <a:prstGeom prst="rect">
            <a:avLst/>
          </a:prstGeom>
        </p:spPr>
      </p:pic>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5" dirty="0"/>
              <a:t>Sistema</a:t>
            </a:r>
            <a:r>
              <a:rPr spc="-40" dirty="0"/>
              <a:t> </a:t>
            </a:r>
            <a:r>
              <a:rPr spc="-120" dirty="0"/>
              <a:t>embedded:</a:t>
            </a:r>
            <a:r>
              <a:rPr spc="25" dirty="0"/>
              <a:t> </a:t>
            </a:r>
            <a:r>
              <a:rPr spc="-85" dirty="0"/>
              <a:t>Sensori</a:t>
            </a: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308051" y="1033026"/>
            <a:ext cx="996150" cy="975681"/>
          </a:xfrm>
          <a:prstGeom prst="rect">
            <a:avLst/>
          </a:prstGeom>
        </p:spPr>
      </p:pic>
      <p:pic>
        <p:nvPicPr>
          <p:cNvPr id="5" name="object 5"/>
          <p:cNvPicPr/>
          <p:nvPr/>
        </p:nvPicPr>
        <p:blipFill>
          <a:blip r:embed="rId5" cstate="print"/>
          <a:stretch>
            <a:fillRect/>
          </a:stretch>
        </p:blipFill>
        <p:spPr>
          <a:xfrm>
            <a:off x="45605" y="2085968"/>
            <a:ext cx="1749640" cy="772341"/>
          </a:xfrm>
          <a:prstGeom prst="rect">
            <a:avLst/>
          </a:prstGeom>
        </p:spPr>
      </p:pic>
      <p:sp>
        <p:nvSpPr>
          <p:cNvPr id="6" name="object 6"/>
          <p:cNvSpPr txBox="1"/>
          <p:nvPr/>
        </p:nvSpPr>
        <p:spPr>
          <a:xfrm>
            <a:off x="1771650" y="986623"/>
            <a:ext cx="2792845" cy="1794915"/>
          </a:xfrm>
          <a:prstGeom prst="rect">
            <a:avLst/>
          </a:prstGeom>
        </p:spPr>
        <p:txBody>
          <a:bodyPr vert="horz" wrap="square" lIns="0" tIns="6985" rIns="0" bIns="0" rtlCol="0">
            <a:spAutoFit/>
          </a:bodyPr>
          <a:lstStyle/>
          <a:p>
            <a:pPr marL="161290" marR="85725" indent="-136525">
              <a:lnSpc>
                <a:spcPct val="102600"/>
              </a:lnSpc>
              <a:spcBef>
                <a:spcPts val="55"/>
              </a:spcBef>
              <a:buFont typeface="Arial"/>
              <a:buChar char="•"/>
              <a:tabLst>
                <a:tab pos="163830" algn="l"/>
              </a:tabLst>
            </a:pPr>
            <a:r>
              <a:rPr sz="1100" spc="-10" dirty="0">
                <a:solidFill>
                  <a:srgbClr val="003366"/>
                </a:solidFill>
                <a:latin typeface="Tahoma"/>
                <a:cs typeface="Tahoma"/>
              </a:rPr>
              <a:t>Pulse</a:t>
            </a:r>
            <a:r>
              <a:rPr sz="1100" spc="-65" dirty="0">
                <a:solidFill>
                  <a:srgbClr val="003366"/>
                </a:solidFill>
                <a:latin typeface="Tahoma"/>
                <a:cs typeface="Tahoma"/>
              </a:rPr>
              <a:t> </a:t>
            </a:r>
            <a:r>
              <a:rPr sz="1100" spc="-45" dirty="0">
                <a:solidFill>
                  <a:srgbClr val="003366"/>
                </a:solidFill>
                <a:latin typeface="Tahoma"/>
                <a:cs typeface="Tahoma"/>
              </a:rPr>
              <a:t>Sensor</a:t>
            </a:r>
            <a:r>
              <a:rPr sz="1100" spc="-45" dirty="0">
                <a:latin typeface="Tahoma"/>
                <a:cs typeface="Tahoma"/>
              </a:rPr>
              <a:t>:</a:t>
            </a:r>
            <a:r>
              <a:rPr sz="1100" spc="60" dirty="0">
                <a:latin typeface="Tahoma"/>
                <a:cs typeface="Tahoma"/>
              </a:rPr>
              <a:t> </a:t>
            </a:r>
            <a:r>
              <a:rPr sz="1100" spc="-75" dirty="0">
                <a:latin typeface="Tahoma"/>
                <a:cs typeface="Tahoma"/>
              </a:rPr>
              <a:t>sensore</a:t>
            </a:r>
            <a:r>
              <a:rPr sz="1100" spc="-10" dirty="0">
                <a:latin typeface="Tahoma"/>
                <a:cs typeface="Tahoma"/>
              </a:rPr>
              <a:t> </a:t>
            </a:r>
            <a:r>
              <a:rPr sz="1100" spc="-25" dirty="0">
                <a:latin typeface="Tahoma"/>
                <a:cs typeface="Tahoma"/>
              </a:rPr>
              <a:t>di 	</a:t>
            </a:r>
            <a:r>
              <a:rPr sz="1100" spc="-40" dirty="0">
                <a:latin typeface="Tahoma"/>
                <a:cs typeface="Tahoma"/>
              </a:rPr>
              <a:t>fotopletismografia</a:t>
            </a:r>
            <a:r>
              <a:rPr sz="1100" spc="-25" dirty="0">
                <a:latin typeface="Tahoma"/>
                <a:cs typeface="Tahoma"/>
              </a:rPr>
              <a:t> </a:t>
            </a:r>
            <a:r>
              <a:rPr sz="1100" dirty="0">
                <a:latin typeface="Tahoma"/>
                <a:cs typeface="Tahoma"/>
              </a:rPr>
              <a:t>ottico</a:t>
            </a:r>
            <a:r>
              <a:rPr sz="1100" spc="-15" dirty="0">
                <a:latin typeface="Tahoma"/>
                <a:cs typeface="Tahoma"/>
              </a:rPr>
              <a:t> </a:t>
            </a:r>
            <a:r>
              <a:rPr sz="1100" spc="-40" dirty="0">
                <a:latin typeface="Tahoma"/>
                <a:cs typeface="Tahoma"/>
              </a:rPr>
              <a:t>che</a:t>
            </a:r>
            <a:r>
              <a:rPr sz="1100" spc="-20" dirty="0">
                <a:latin typeface="Tahoma"/>
                <a:cs typeface="Tahoma"/>
              </a:rPr>
              <a:t> </a:t>
            </a:r>
            <a:r>
              <a:rPr sz="1100" spc="-35" dirty="0">
                <a:latin typeface="Tahoma"/>
                <a:cs typeface="Tahoma"/>
              </a:rPr>
              <a:t>permette</a:t>
            </a:r>
            <a:r>
              <a:rPr sz="1100" spc="-15" dirty="0">
                <a:latin typeface="Tahoma"/>
                <a:cs typeface="Tahoma"/>
              </a:rPr>
              <a:t> </a:t>
            </a:r>
            <a:r>
              <a:rPr sz="1100" spc="-25" dirty="0">
                <a:latin typeface="Tahoma"/>
                <a:cs typeface="Tahoma"/>
              </a:rPr>
              <a:t>di 	</a:t>
            </a:r>
            <a:r>
              <a:rPr sz="1100" spc="-50" dirty="0">
                <a:latin typeface="Tahoma"/>
                <a:cs typeface="Tahoma"/>
              </a:rPr>
              <a:t>misurare</a:t>
            </a:r>
            <a:r>
              <a:rPr sz="1100" spc="-35" dirty="0">
                <a:latin typeface="Tahoma"/>
                <a:cs typeface="Tahoma"/>
              </a:rPr>
              <a:t> </a:t>
            </a:r>
            <a:r>
              <a:rPr sz="1100" dirty="0">
                <a:latin typeface="Tahoma"/>
                <a:cs typeface="Tahoma"/>
              </a:rPr>
              <a:t>le</a:t>
            </a:r>
            <a:r>
              <a:rPr sz="1100" spc="-30" dirty="0">
                <a:latin typeface="Tahoma"/>
                <a:cs typeface="Tahoma"/>
              </a:rPr>
              <a:t> </a:t>
            </a:r>
            <a:r>
              <a:rPr sz="1100" spc="-30" dirty="0" err="1">
                <a:latin typeface="Tahoma"/>
                <a:cs typeface="Tahoma"/>
              </a:rPr>
              <a:t>variazioni</a:t>
            </a:r>
            <a:r>
              <a:rPr sz="1100" spc="-35" dirty="0">
                <a:latin typeface="Tahoma"/>
                <a:cs typeface="Tahoma"/>
              </a:rPr>
              <a:t> </a:t>
            </a:r>
            <a:r>
              <a:rPr lang="it-IT" sz="1100" spc="-35" dirty="0">
                <a:latin typeface="Tahoma"/>
                <a:cs typeface="Tahoma"/>
              </a:rPr>
              <a:t>d</a:t>
            </a:r>
            <a:r>
              <a:rPr lang="it-IT" sz="1100" dirty="0">
                <a:latin typeface="Tahoma"/>
                <a:cs typeface="Tahoma"/>
              </a:rPr>
              <a:t>el volume</a:t>
            </a:r>
            <a:r>
              <a:rPr sz="1100" spc="-30" dirty="0">
                <a:latin typeface="Tahoma"/>
                <a:cs typeface="Tahoma"/>
              </a:rPr>
              <a:t> </a:t>
            </a:r>
            <a:r>
              <a:rPr lang="it-IT" sz="1100" spc="-25" dirty="0">
                <a:latin typeface="Tahoma"/>
                <a:cs typeface="Tahoma"/>
              </a:rPr>
              <a:t>d</a:t>
            </a:r>
            <a:r>
              <a:rPr sz="1100" spc="-25" dirty="0" err="1">
                <a:latin typeface="Tahoma"/>
                <a:cs typeface="Tahoma"/>
              </a:rPr>
              <a:t>el</a:t>
            </a:r>
            <a:r>
              <a:rPr sz="1100" spc="-25" dirty="0">
                <a:latin typeface="Tahoma"/>
                <a:cs typeface="Tahoma"/>
              </a:rPr>
              <a:t> 	</a:t>
            </a:r>
            <a:r>
              <a:rPr sz="1100" spc="-45" dirty="0">
                <a:latin typeface="Tahoma"/>
                <a:cs typeface="Tahoma"/>
              </a:rPr>
              <a:t>sangue.</a:t>
            </a:r>
            <a:r>
              <a:rPr sz="1100" spc="50" dirty="0">
                <a:latin typeface="Tahoma"/>
                <a:cs typeface="Tahoma"/>
              </a:rPr>
              <a:t> </a:t>
            </a:r>
            <a:r>
              <a:rPr sz="1100" dirty="0">
                <a:latin typeface="Tahoma"/>
                <a:cs typeface="Tahoma"/>
              </a:rPr>
              <a:t>Si</a:t>
            </a:r>
            <a:r>
              <a:rPr sz="1100" spc="-45" dirty="0">
                <a:latin typeface="Tahoma"/>
                <a:cs typeface="Tahoma"/>
              </a:rPr>
              <a:t> </a:t>
            </a:r>
            <a:r>
              <a:rPr sz="1100" spc="-30" dirty="0">
                <a:latin typeface="Tahoma"/>
                <a:cs typeface="Tahoma"/>
              </a:rPr>
              <a:t>applica</a:t>
            </a:r>
            <a:r>
              <a:rPr sz="1100" spc="-50" dirty="0">
                <a:latin typeface="Tahoma"/>
                <a:cs typeface="Tahoma"/>
              </a:rPr>
              <a:t> </a:t>
            </a:r>
            <a:r>
              <a:rPr sz="1100" spc="-20" dirty="0">
                <a:latin typeface="Tahoma"/>
                <a:cs typeface="Tahoma"/>
              </a:rPr>
              <a:t>sulla</a:t>
            </a:r>
            <a:r>
              <a:rPr sz="1100" spc="-45" dirty="0">
                <a:latin typeface="Tahoma"/>
                <a:cs typeface="Tahoma"/>
              </a:rPr>
              <a:t> </a:t>
            </a:r>
            <a:r>
              <a:rPr sz="1100" spc="-25" dirty="0">
                <a:latin typeface="Tahoma"/>
                <a:cs typeface="Tahoma"/>
              </a:rPr>
              <a:t>punta</a:t>
            </a:r>
            <a:r>
              <a:rPr sz="1100" spc="-45" dirty="0">
                <a:latin typeface="Tahoma"/>
                <a:cs typeface="Tahoma"/>
              </a:rPr>
              <a:t> </a:t>
            </a:r>
            <a:r>
              <a:rPr sz="1100" dirty="0">
                <a:latin typeface="Tahoma"/>
                <a:cs typeface="Tahoma"/>
              </a:rPr>
              <a:t>di</a:t>
            </a:r>
            <a:r>
              <a:rPr sz="1100" spc="-45" dirty="0">
                <a:latin typeface="Tahoma"/>
                <a:cs typeface="Tahoma"/>
              </a:rPr>
              <a:t> </a:t>
            </a:r>
            <a:r>
              <a:rPr sz="1100" spc="-10" dirty="0">
                <a:latin typeface="Tahoma"/>
                <a:cs typeface="Tahoma"/>
              </a:rPr>
              <a:t>un</a:t>
            </a:r>
            <a:r>
              <a:rPr sz="1100" spc="-50" dirty="0">
                <a:latin typeface="Tahoma"/>
                <a:cs typeface="Tahoma"/>
              </a:rPr>
              <a:t> </a:t>
            </a:r>
            <a:r>
              <a:rPr sz="1100" spc="-20" dirty="0">
                <a:latin typeface="Tahoma"/>
                <a:cs typeface="Tahoma"/>
              </a:rPr>
              <a:t>dito 	</a:t>
            </a:r>
            <a:r>
              <a:rPr sz="1100" spc="-35" dirty="0">
                <a:latin typeface="Tahoma"/>
                <a:cs typeface="Tahoma"/>
              </a:rPr>
              <a:t>grazie</a:t>
            </a:r>
            <a:r>
              <a:rPr sz="1100" spc="-40" dirty="0">
                <a:latin typeface="Tahoma"/>
                <a:cs typeface="Tahoma"/>
              </a:rPr>
              <a:t> </a:t>
            </a:r>
            <a:r>
              <a:rPr sz="1100" spc="-10" dirty="0">
                <a:latin typeface="Tahoma"/>
                <a:cs typeface="Tahoma"/>
              </a:rPr>
              <a:t>ad</a:t>
            </a:r>
            <a:r>
              <a:rPr sz="1100" spc="-35" dirty="0">
                <a:latin typeface="Tahoma"/>
                <a:cs typeface="Tahoma"/>
              </a:rPr>
              <a:t> </a:t>
            </a:r>
            <a:r>
              <a:rPr sz="1100" spc="-40" dirty="0">
                <a:latin typeface="Tahoma"/>
                <a:cs typeface="Tahoma"/>
              </a:rPr>
              <a:t>una </a:t>
            </a:r>
            <a:r>
              <a:rPr sz="1100" spc="-25" dirty="0">
                <a:latin typeface="Tahoma"/>
                <a:cs typeface="Tahoma"/>
              </a:rPr>
              <a:t>striscia</a:t>
            </a:r>
            <a:r>
              <a:rPr sz="1100" spc="-40" dirty="0">
                <a:latin typeface="Tahoma"/>
                <a:cs typeface="Tahoma"/>
              </a:rPr>
              <a:t> </a:t>
            </a:r>
            <a:r>
              <a:rPr sz="1100" dirty="0">
                <a:latin typeface="Tahoma"/>
                <a:cs typeface="Tahoma"/>
              </a:rPr>
              <a:t>di</a:t>
            </a:r>
            <a:r>
              <a:rPr sz="1100" spc="-35" dirty="0">
                <a:latin typeface="Tahoma"/>
                <a:cs typeface="Tahoma"/>
              </a:rPr>
              <a:t> </a:t>
            </a:r>
            <a:r>
              <a:rPr sz="1100" spc="-10" dirty="0">
                <a:latin typeface="Tahoma"/>
                <a:cs typeface="Tahoma"/>
              </a:rPr>
              <a:t>Velcro;</a:t>
            </a:r>
            <a:endParaRPr sz="1100" dirty="0">
              <a:latin typeface="Tahoma"/>
              <a:cs typeface="Tahoma"/>
            </a:endParaRPr>
          </a:p>
          <a:p>
            <a:pPr>
              <a:lnSpc>
                <a:spcPct val="100000"/>
              </a:lnSpc>
              <a:spcBef>
                <a:spcPts val="500"/>
              </a:spcBef>
              <a:buClr>
                <a:srgbClr val="003366"/>
              </a:buClr>
              <a:buFont typeface="Arial"/>
              <a:buChar char="•"/>
            </a:pPr>
            <a:endParaRPr sz="1100" dirty="0">
              <a:latin typeface="Tahoma"/>
              <a:cs typeface="Tahoma"/>
            </a:endParaRPr>
          </a:p>
          <a:p>
            <a:pPr marL="161290" marR="17780" indent="-136525">
              <a:lnSpc>
                <a:spcPct val="102600"/>
              </a:lnSpc>
              <a:buFont typeface="Arial"/>
              <a:buChar char="•"/>
              <a:tabLst>
                <a:tab pos="163830" algn="l"/>
              </a:tabLst>
            </a:pPr>
            <a:r>
              <a:rPr sz="1100" spc="-25" dirty="0">
                <a:solidFill>
                  <a:srgbClr val="003366"/>
                </a:solidFill>
                <a:latin typeface="Tahoma"/>
                <a:cs typeface="Tahoma"/>
              </a:rPr>
              <a:t>Galvanic</a:t>
            </a:r>
            <a:r>
              <a:rPr sz="1100" spc="-45" dirty="0">
                <a:solidFill>
                  <a:srgbClr val="003366"/>
                </a:solidFill>
                <a:latin typeface="Tahoma"/>
                <a:cs typeface="Tahoma"/>
              </a:rPr>
              <a:t> </a:t>
            </a:r>
            <a:r>
              <a:rPr sz="1100" dirty="0">
                <a:solidFill>
                  <a:srgbClr val="003366"/>
                </a:solidFill>
                <a:latin typeface="Tahoma"/>
                <a:cs typeface="Tahoma"/>
              </a:rPr>
              <a:t>Skin</a:t>
            </a:r>
            <a:r>
              <a:rPr sz="1100" spc="-25" dirty="0">
                <a:solidFill>
                  <a:srgbClr val="003366"/>
                </a:solidFill>
                <a:latin typeface="Tahoma"/>
                <a:cs typeface="Tahoma"/>
              </a:rPr>
              <a:t> </a:t>
            </a:r>
            <a:r>
              <a:rPr lang="it-IT" sz="1100" spc="-25" dirty="0" err="1">
                <a:solidFill>
                  <a:srgbClr val="003366"/>
                </a:solidFill>
                <a:latin typeface="Tahoma"/>
                <a:cs typeface="Tahoma"/>
              </a:rPr>
              <a:t>Response</a:t>
            </a:r>
            <a:r>
              <a:rPr lang="it-IT" sz="1100" spc="-25" dirty="0">
                <a:solidFill>
                  <a:srgbClr val="003366"/>
                </a:solidFill>
                <a:latin typeface="Tahoma"/>
                <a:cs typeface="Tahoma"/>
              </a:rPr>
              <a:t> </a:t>
            </a:r>
            <a:r>
              <a:rPr sz="1100" spc="-45" dirty="0">
                <a:solidFill>
                  <a:srgbClr val="003366"/>
                </a:solidFill>
                <a:latin typeface="Tahoma"/>
                <a:cs typeface="Tahoma"/>
              </a:rPr>
              <a:t>Sensor</a:t>
            </a:r>
            <a:r>
              <a:rPr sz="1100" spc="-45" dirty="0">
                <a:latin typeface="Tahoma"/>
                <a:cs typeface="Tahoma"/>
              </a:rPr>
              <a:t>:</a:t>
            </a:r>
            <a:r>
              <a:rPr sz="1100" spc="80" dirty="0">
                <a:latin typeface="Tahoma"/>
                <a:cs typeface="Tahoma"/>
              </a:rPr>
              <a:t> </a:t>
            </a:r>
            <a:r>
              <a:rPr sz="1100" spc="-75" dirty="0">
                <a:latin typeface="Tahoma"/>
                <a:cs typeface="Tahoma"/>
              </a:rPr>
              <a:t>sensore</a:t>
            </a:r>
            <a:r>
              <a:rPr sz="1100" spc="-15" dirty="0">
                <a:latin typeface="Tahoma"/>
                <a:cs typeface="Tahoma"/>
              </a:rPr>
              <a:t> </a:t>
            </a:r>
            <a:r>
              <a:rPr sz="1100" spc="-40" dirty="0">
                <a:latin typeface="Tahoma"/>
                <a:cs typeface="Tahoma"/>
              </a:rPr>
              <a:t>che</a:t>
            </a:r>
            <a:r>
              <a:rPr sz="1100" spc="-25" dirty="0">
                <a:latin typeface="Tahoma"/>
                <a:cs typeface="Tahoma"/>
              </a:rPr>
              <a:t> </a:t>
            </a:r>
            <a:r>
              <a:rPr sz="1100" spc="-50" dirty="0">
                <a:latin typeface="Tahoma"/>
                <a:cs typeface="Tahoma"/>
              </a:rPr>
              <a:t>riesce</a:t>
            </a:r>
            <a:r>
              <a:rPr sz="1100" spc="-30" dirty="0">
                <a:latin typeface="Tahoma"/>
                <a:cs typeface="Tahoma"/>
              </a:rPr>
              <a:t> </a:t>
            </a:r>
            <a:r>
              <a:rPr sz="1100" spc="-50" dirty="0">
                <a:latin typeface="Tahoma"/>
                <a:cs typeface="Tahoma"/>
              </a:rPr>
              <a:t>a </a:t>
            </a:r>
            <a:r>
              <a:rPr sz="1100" spc="-50" dirty="0" err="1">
                <a:latin typeface="Tahoma"/>
                <a:cs typeface="Tahoma"/>
              </a:rPr>
              <a:t>misurare</a:t>
            </a:r>
            <a:r>
              <a:rPr sz="1100" spc="-15" dirty="0">
                <a:latin typeface="Tahoma"/>
                <a:cs typeface="Tahoma"/>
              </a:rPr>
              <a:t> </a:t>
            </a:r>
            <a:r>
              <a:rPr lang="it-IT" sz="1100" spc="-15" dirty="0">
                <a:latin typeface="Tahoma"/>
                <a:cs typeface="Tahoma"/>
              </a:rPr>
              <a:t>le variazioni </a:t>
            </a:r>
            <a:r>
              <a:rPr sz="1100" dirty="0">
                <a:latin typeface="Tahoma"/>
                <a:cs typeface="Tahoma"/>
              </a:rPr>
              <a:t>di</a:t>
            </a:r>
            <a:r>
              <a:rPr lang="it-IT" sz="1100" spc="-15" dirty="0">
                <a:latin typeface="Tahoma"/>
                <a:cs typeface="Tahoma"/>
              </a:rPr>
              <a:t> </a:t>
            </a:r>
            <a:r>
              <a:rPr sz="1100" spc="-35" dirty="0" err="1">
                <a:latin typeface="Tahoma"/>
                <a:cs typeface="Tahoma"/>
              </a:rPr>
              <a:t>conduttanza</a:t>
            </a:r>
            <a:r>
              <a:rPr sz="1100" spc="-10" dirty="0">
                <a:latin typeface="Tahoma"/>
                <a:cs typeface="Tahoma"/>
              </a:rPr>
              <a:t> </a:t>
            </a:r>
            <a:r>
              <a:rPr sz="1100" spc="-10" dirty="0" err="1">
                <a:latin typeface="Tahoma"/>
                <a:cs typeface="Tahoma"/>
              </a:rPr>
              <a:t>della</a:t>
            </a:r>
            <a:r>
              <a:rPr sz="1100" spc="-10" dirty="0">
                <a:latin typeface="Tahoma"/>
                <a:cs typeface="Tahoma"/>
              </a:rPr>
              <a:t> </a:t>
            </a:r>
            <a:r>
              <a:rPr sz="1100" spc="-25" dirty="0" err="1">
                <a:latin typeface="Tahoma"/>
                <a:cs typeface="Tahoma"/>
              </a:rPr>
              <a:t>pelle</a:t>
            </a:r>
            <a:r>
              <a:rPr sz="1100" spc="-35" dirty="0">
                <a:latin typeface="Tahoma"/>
                <a:cs typeface="Tahoma"/>
              </a:rPr>
              <a:t> grazie </a:t>
            </a:r>
            <a:r>
              <a:rPr sz="1100" dirty="0">
                <a:latin typeface="Tahoma"/>
                <a:cs typeface="Tahoma"/>
              </a:rPr>
              <a:t>a</a:t>
            </a:r>
            <a:r>
              <a:rPr sz="1100" spc="-35" dirty="0">
                <a:latin typeface="Tahoma"/>
                <a:cs typeface="Tahoma"/>
              </a:rPr>
              <a:t> </a:t>
            </a:r>
            <a:r>
              <a:rPr sz="1100" spc="-50" dirty="0">
                <a:latin typeface="Tahoma"/>
                <a:cs typeface="Tahoma"/>
              </a:rPr>
              <a:t>due</a:t>
            </a:r>
            <a:r>
              <a:rPr sz="1100" spc="-30" dirty="0">
                <a:latin typeface="Tahoma"/>
                <a:cs typeface="Tahoma"/>
              </a:rPr>
              <a:t> </a:t>
            </a:r>
            <a:r>
              <a:rPr sz="1100" spc="-20" dirty="0">
                <a:latin typeface="Tahoma"/>
                <a:cs typeface="Tahoma"/>
              </a:rPr>
              <a:t>elettrodi</a:t>
            </a:r>
            <a:r>
              <a:rPr sz="1100" spc="-40" dirty="0">
                <a:latin typeface="Tahoma"/>
                <a:cs typeface="Tahoma"/>
              </a:rPr>
              <a:t> </a:t>
            </a:r>
            <a:r>
              <a:rPr sz="1100" spc="-10" dirty="0" err="1">
                <a:latin typeface="Tahoma"/>
                <a:cs typeface="Tahoma"/>
              </a:rPr>
              <a:t>posizionati</a:t>
            </a:r>
            <a:r>
              <a:rPr sz="1100" spc="-10" dirty="0">
                <a:latin typeface="Tahoma"/>
                <a:cs typeface="Tahoma"/>
              </a:rPr>
              <a:t> </a:t>
            </a:r>
            <a:r>
              <a:rPr sz="1100" spc="-40" dirty="0" err="1">
                <a:latin typeface="Tahoma"/>
                <a:cs typeface="Tahoma"/>
              </a:rPr>
              <a:t>negli</a:t>
            </a:r>
            <a:r>
              <a:rPr sz="1100" spc="-20" dirty="0">
                <a:latin typeface="Tahoma"/>
                <a:cs typeface="Tahoma"/>
              </a:rPr>
              <a:t> </a:t>
            </a:r>
            <a:r>
              <a:rPr sz="1100" spc="-25" dirty="0">
                <a:latin typeface="Tahoma"/>
                <a:cs typeface="Tahoma"/>
              </a:rPr>
              <a:t>appositi</a:t>
            </a:r>
            <a:r>
              <a:rPr sz="1100" spc="-20" dirty="0">
                <a:latin typeface="Tahoma"/>
                <a:cs typeface="Tahoma"/>
              </a:rPr>
              <a:t> </a:t>
            </a:r>
            <a:r>
              <a:rPr sz="1100" spc="-10" dirty="0">
                <a:latin typeface="Tahoma"/>
                <a:cs typeface="Tahoma"/>
              </a:rPr>
              <a:t>ditali.</a:t>
            </a:r>
            <a:endParaRPr sz="1100" dirty="0">
              <a:latin typeface="Tahoma"/>
              <a:cs typeface="Tahoma"/>
            </a:endParaRPr>
          </a:p>
        </p:txBody>
      </p:sp>
      <p:sp>
        <p:nvSpPr>
          <p:cNvPr id="7" name="object 7"/>
          <p:cNvSpPr/>
          <p:nvPr/>
        </p:nvSpPr>
        <p:spPr>
          <a:xfrm>
            <a:off x="0" y="3346348"/>
            <a:ext cx="4608195" cy="109855"/>
          </a:xfrm>
          <a:custGeom>
            <a:avLst/>
            <a:gdLst/>
            <a:ahLst/>
            <a:cxnLst/>
            <a:rect l="l" t="t" r="r" b="b"/>
            <a:pathLst>
              <a:path w="4608195" h="109854">
                <a:moveTo>
                  <a:pt x="4607992" y="0"/>
                </a:moveTo>
                <a:lnTo>
                  <a:pt x="3225571" y="0"/>
                </a:lnTo>
                <a:lnTo>
                  <a:pt x="1382407" y="0"/>
                </a:lnTo>
                <a:lnTo>
                  <a:pt x="0" y="0"/>
                </a:lnTo>
                <a:lnTo>
                  <a:pt x="0" y="109651"/>
                </a:lnTo>
                <a:lnTo>
                  <a:pt x="1382395" y="109651"/>
                </a:lnTo>
                <a:lnTo>
                  <a:pt x="3225571" y="109651"/>
                </a:lnTo>
                <a:lnTo>
                  <a:pt x="4607992" y="109651"/>
                </a:lnTo>
                <a:lnTo>
                  <a:pt x="4607992" y="0"/>
                </a:lnTo>
                <a:close/>
              </a:path>
            </a:pathLst>
          </a:custGeom>
          <a:solidFill>
            <a:srgbClr val="003366"/>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9" name="object 9"/>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6" action="ppaction://hlinksldjump"/>
              </a:rPr>
              <a:t>Sistema</a:t>
            </a:r>
            <a:r>
              <a:rPr sz="600" spc="20"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per</a:t>
            </a:r>
            <a:r>
              <a:rPr sz="600" spc="20"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Esperimenti</a:t>
            </a:r>
            <a:r>
              <a:rPr sz="600" spc="25"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di</a:t>
            </a:r>
            <a:r>
              <a:rPr sz="600" spc="25"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Biofeedback</a:t>
            </a:r>
            <a:endParaRPr sz="600" dirty="0">
              <a:latin typeface="Arial MT"/>
              <a:cs typeface="Arial MT"/>
            </a:endParaRPr>
          </a:p>
        </p:txBody>
      </p:sp>
      <p:sp>
        <p:nvSpPr>
          <p:cNvPr id="10" name="object 10"/>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5</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9961" y="78569"/>
            <a:ext cx="2002789" cy="288290"/>
          </a:xfrm>
          <a:prstGeom prst="rect">
            <a:avLst/>
          </a:prstGeom>
        </p:spPr>
        <p:txBody>
          <a:bodyPr vert="horz" wrap="square" lIns="0" tIns="15240" rIns="0" bIns="0" rtlCol="0">
            <a:spAutoFit/>
          </a:bodyPr>
          <a:lstStyle/>
          <a:p>
            <a:pPr marL="12700">
              <a:lnSpc>
                <a:spcPct val="100000"/>
              </a:lnSpc>
              <a:spcBef>
                <a:spcPts val="120"/>
              </a:spcBef>
            </a:pPr>
            <a:r>
              <a:rPr sz="1700" spc="-90" dirty="0">
                <a:solidFill>
                  <a:srgbClr val="FFFFFF"/>
                </a:solidFill>
                <a:latin typeface="Tahoma"/>
                <a:cs typeface="Tahoma"/>
              </a:rPr>
              <a:t>Collegamenti</a:t>
            </a:r>
            <a:r>
              <a:rPr sz="1700" spc="60" dirty="0">
                <a:solidFill>
                  <a:srgbClr val="FFFFFF"/>
                </a:solidFill>
                <a:latin typeface="Tahoma"/>
                <a:cs typeface="Tahoma"/>
              </a:rPr>
              <a:t> </a:t>
            </a:r>
            <a:r>
              <a:rPr sz="1700" spc="-110" dirty="0">
                <a:solidFill>
                  <a:srgbClr val="FFFFFF"/>
                </a:solidFill>
                <a:latin typeface="Tahoma"/>
                <a:cs typeface="Tahoma"/>
              </a:rPr>
              <a:t>Hardware</a:t>
            </a:r>
            <a:endParaRPr sz="1700">
              <a:latin typeface="Tahoma"/>
              <a:cs typeface="Tahoma"/>
            </a:endParaRPr>
          </a:p>
        </p:txBody>
      </p:sp>
      <p:pic>
        <p:nvPicPr>
          <p:cNvPr id="3" name="object 3"/>
          <p:cNvPicPr/>
          <p:nvPr/>
        </p:nvPicPr>
        <p:blipFill>
          <a:blip r:embed="rId3" cstate="print"/>
          <a:stretch>
            <a:fillRect/>
          </a:stretch>
        </p:blipFill>
        <p:spPr>
          <a:xfrm>
            <a:off x="3527996" y="47072"/>
            <a:ext cx="1080007" cy="423538"/>
          </a:xfrm>
          <a:prstGeom prst="rect">
            <a:avLst/>
          </a:prstGeom>
        </p:spPr>
      </p:pic>
      <p:sp>
        <p:nvSpPr>
          <p:cNvPr id="5" name="object 5"/>
          <p:cNvSpPr txBox="1"/>
          <p:nvPr/>
        </p:nvSpPr>
        <p:spPr>
          <a:xfrm>
            <a:off x="1673618" y="2953193"/>
            <a:ext cx="1261110" cy="191770"/>
          </a:xfrm>
          <a:prstGeom prst="rect">
            <a:avLst/>
          </a:prstGeom>
        </p:spPr>
        <p:txBody>
          <a:bodyPr vert="horz" wrap="square" lIns="0" tIns="11430" rIns="0" bIns="0" rtlCol="0">
            <a:spAutoFit/>
          </a:bodyPr>
          <a:lstStyle/>
          <a:p>
            <a:pPr marL="12700">
              <a:lnSpc>
                <a:spcPct val="100000"/>
              </a:lnSpc>
              <a:spcBef>
                <a:spcPts val="90"/>
              </a:spcBef>
            </a:pPr>
            <a:r>
              <a:rPr sz="1100" spc="-35" dirty="0">
                <a:latin typeface="Tahoma"/>
                <a:cs typeface="Tahoma"/>
              </a:rPr>
              <a:t>Diagramma</a:t>
            </a:r>
            <a:r>
              <a:rPr sz="1100" spc="-45" dirty="0">
                <a:latin typeface="Tahoma"/>
                <a:cs typeface="Tahoma"/>
              </a:rPr>
              <a:t> </a:t>
            </a:r>
            <a:r>
              <a:rPr sz="1100" spc="-20" dirty="0">
                <a:latin typeface="Tahoma"/>
                <a:cs typeface="Tahoma"/>
              </a:rPr>
              <a:t>circuitale</a:t>
            </a:r>
            <a:endParaRPr sz="1100">
              <a:latin typeface="Tahoma"/>
              <a:cs typeface="Tahoma"/>
            </a:endParaRPr>
          </a:p>
        </p:txBody>
      </p:sp>
      <p:sp>
        <p:nvSpPr>
          <p:cNvPr id="6" name="object 6"/>
          <p:cNvSpPr/>
          <p:nvPr/>
        </p:nvSpPr>
        <p:spPr>
          <a:xfrm>
            <a:off x="0" y="3346348"/>
            <a:ext cx="4608195" cy="109855"/>
          </a:xfrm>
          <a:custGeom>
            <a:avLst/>
            <a:gdLst/>
            <a:ahLst/>
            <a:cxnLst/>
            <a:rect l="l" t="t" r="r" b="b"/>
            <a:pathLst>
              <a:path w="4608195" h="109854">
                <a:moveTo>
                  <a:pt x="4608004" y="0"/>
                </a:moveTo>
                <a:lnTo>
                  <a:pt x="3225584" y="0"/>
                </a:lnTo>
                <a:lnTo>
                  <a:pt x="1382420" y="0"/>
                </a:lnTo>
                <a:lnTo>
                  <a:pt x="0" y="0"/>
                </a:lnTo>
                <a:lnTo>
                  <a:pt x="0" y="109651"/>
                </a:lnTo>
                <a:lnTo>
                  <a:pt x="1382407"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8" name="object 8"/>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4" action="ppaction://hlinksldjump"/>
              </a:rPr>
              <a:t>Sistema</a:t>
            </a:r>
            <a:r>
              <a:rPr sz="600" spc="20"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per</a:t>
            </a:r>
            <a:r>
              <a:rPr sz="600" spc="20"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Esperimenti</a:t>
            </a:r>
            <a:r>
              <a:rPr sz="600" spc="25"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di</a:t>
            </a:r>
            <a:r>
              <a:rPr sz="600" spc="25"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Biofeedback</a:t>
            </a:r>
            <a:endParaRPr sz="600">
              <a:latin typeface="Arial MT"/>
              <a:cs typeface="Arial MT"/>
            </a:endParaRPr>
          </a:p>
        </p:txBody>
      </p:sp>
      <p:sp>
        <p:nvSpPr>
          <p:cNvPr id="9" name="object 9"/>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6</a:t>
            </a:fld>
            <a:r>
              <a:rPr spc="25" dirty="0"/>
              <a:t> </a:t>
            </a:r>
            <a:r>
              <a:rPr dirty="0"/>
              <a:t>of</a:t>
            </a:r>
            <a:r>
              <a:rPr spc="20" dirty="0"/>
              <a:t> </a:t>
            </a:r>
            <a:r>
              <a:rPr spc="-25" dirty="0"/>
              <a:t>1</a:t>
            </a:r>
            <a:r>
              <a:rPr lang="it-IT" spc="-25" dirty="0"/>
              <a:t>2</a:t>
            </a:r>
            <a:endParaRPr spc="-25" dirty="0"/>
          </a:p>
        </p:txBody>
      </p:sp>
      <p:pic>
        <p:nvPicPr>
          <p:cNvPr id="13" name="Immagine 12" descr="Immagine che contiene testo, Auricolari, diagramma, cavo&#10;&#10;Il contenuto generato dall'IA potrebbe non essere corretto.">
            <a:extLst>
              <a:ext uri="{FF2B5EF4-FFF2-40B4-BE49-F238E27FC236}">
                <a16:creationId xmlns:a16="http://schemas.microsoft.com/office/drawing/2014/main" id="{5E8A41C4-A3FF-B1F5-2F0C-F8337EAAE8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1937" y="577290"/>
            <a:ext cx="4086225" cy="2372997"/>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70" dirty="0"/>
              <a:t>Applicazione</a:t>
            </a:r>
            <a:r>
              <a:rPr spc="-65" dirty="0"/>
              <a:t> </a:t>
            </a:r>
            <a:r>
              <a:rPr spc="-30" dirty="0"/>
              <a:t>Flutter:</a:t>
            </a:r>
            <a:r>
              <a:rPr spc="5" dirty="0"/>
              <a:t> </a:t>
            </a:r>
            <a:r>
              <a:rPr spc="-75" dirty="0"/>
              <a:t>Ricezione</a:t>
            </a: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327482" y="614604"/>
            <a:ext cx="1566084" cy="2593961"/>
          </a:xfrm>
          <a:prstGeom prst="rect">
            <a:avLst/>
          </a:prstGeom>
        </p:spPr>
      </p:pic>
      <p:sp>
        <p:nvSpPr>
          <p:cNvPr id="5" name="object 5"/>
          <p:cNvSpPr txBox="1"/>
          <p:nvPr/>
        </p:nvSpPr>
        <p:spPr>
          <a:xfrm>
            <a:off x="2330030" y="496224"/>
            <a:ext cx="2077085" cy="1725930"/>
          </a:xfrm>
          <a:prstGeom prst="rect">
            <a:avLst/>
          </a:prstGeom>
        </p:spPr>
        <p:txBody>
          <a:bodyPr vert="horz" wrap="square" lIns="0" tIns="55244" rIns="0" bIns="0" rtlCol="0">
            <a:spAutoFit/>
          </a:bodyPr>
          <a:lstStyle/>
          <a:p>
            <a:pPr marL="174625" indent="-136525">
              <a:lnSpc>
                <a:spcPct val="100000"/>
              </a:lnSpc>
              <a:spcBef>
                <a:spcPts val="434"/>
              </a:spcBef>
              <a:buClr>
                <a:srgbClr val="003366"/>
              </a:buClr>
              <a:buFont typeface="Arial"/>
              <a:buChar char="•"/>
              <a:tabLst>
                <a:tab pos="174625" algn="l"/>
              </a:tabLst>
            </a:pPr>
            <a:r>
              <a:rPr sz="1100" spc="-20" dirty="0">
                <a:latin typeface="Tahoma"/>
                <a:cs typeface="Tahoma"/>
              </a:rPr>
              <a:t>Attivare</a:t>
            </a:r>
            <a:r>
              <a:rPr sz="1100" spc="-30" dirty="0">
                <a:latin typeface="Tahoma"/>
                <a:cs typeface="Tahoma"/>
              </a:rPr>
              <a:t> </a:t>
            </a:r>
            <a:r>
              <a:rPr sz="1100" dirty="0">
                <a:latin typeface="Tahoma"/>
                <a:cs typeface="Tahoma"/>
              </a:rPr>
              <a:t>la</a:t>
            </a:r>
            <a:r>
              <a:rPr sz="1100" spc="-30" dirty="0">
                <a:latin typeface="Tahoma"/>
                <a:cs typeface="Tahoma"/>
              </a:rPr>
              <a:t> </a:t>
            </a:r>
            <a:r>
              <a:rPr sz="1100" spc="-45" dirty="0">
                <a:latin typeface="Tahoma"/>
                <a:cs typeface="Tahoma"/>
              </a:rPr>
              <a:t>trasmissione</a:t>
            </a:r>
            <a:r>
              <a:rPr sz="1100" spc="-30" dirty="0">
                <a:latin typeface="Tahoma"/>
                <a:cs typeface="Tahoma"/>
              </a:rPr>
              <a:t> </a:t>
            </a:r>
            <a:r>
              <a:rPr sz="1100" spc="-35" dirty="0">
                <a:latin typeface="Tahoma"/>
                <a:cs typeface="Tahoma"/>
              </a:rPr>
              <a:t>dei</a:t>
            </a:r>
            <a:r>
              <a:rPr sz="1100" spc="-25" dirty="0">
                <a:latin typeface="Tahoma"/>
                <a:cs typeface="Tahoma"/>
              </a:rPr>
              <a:t> </a:t>
            </a:r>
            <a:r>
              <a:rPr sz="1100" spc="-10" dirty="0">
                <a:latin typeface="Tahoma"/>
                <a:cs typeface="Tahoma"/>
              </a:rPr>
              <a:t>dati;</a:t>
            </a:r>
            <a:endParaRPr sz="1100" dirty="0">
              <a:latin typeface="Tahoma"/>
              <a:cs typeface="Tahoma"/>
            </a:endParaRPr>
          </a:p>
          <a:p>
            <a:pPr marL="173990" marR="121920" indent="-136525">
              <a:lnSpc>
                <a:spcPct val="102699"/>
              </a:lnSpc>
              <a:spcBef>
                <a:spcPts val="295"/>
              </a:spcBef>
              <a:buClr>
                <a:srgbClr val="003366"/>
              </a:buClr>
              <a:buFont typeface="Arial"/>
              <a:buChar char="•"/>
              <a:tabLst>
                <a:tab pos="176530" algn="l"/>
              </a:tabLst>
            </a:pPr>
            <a:r>
              <a:rPr sz="1100" spc="-50" dirty="0">
                <a:latin typeface="Tahoma"/>
                <a:cs typeface="Tahoma"/>
              </a:rPr>
              <a:t>Selezionare</a:t>
            </a:r>
            <a:r>
              <a:rPr sz="1100" spc="-30" dirty="0">
                <a:latin typeface="Tahoma"/>
                <a:cs typeface="Tahoma"/>
              </a:rPr>
              <a:t> </a:t>
            </a:r>
            <a:r>
              <a:rPr sz="1100" dirty="0">
                <a:latin typeface="Tahoma"/>
                <a:cs typeface="Tahoma"/>
              </a:rPr>
              <a:t>le</a:t>
            </a:r>
            <a:r>
              <a:rPr sz="1100" spc="-30" dirty="0">
                <a:latin typeface="Tahoma"/>
                <a:cs typeface="Tahoma"/>
              </a:rPr>
              <a:t> </a:t>
            </a:r>
            <a:r>
              <a:rPr sz="1100" spc="-50" dirty="0" err="1">
                <a:latin typeface="Tahoma"/>
                <a:cs typeface="Tahoma"/>
              </a:rPr>
              <a:t>grandezze</a:t>
            </a:r>
            <a:r>
              <a:rPr lang="it-IT" sz="1100" spc="-25" dirty="0">
                <a:latin typeface="Tahoma"/>
                <a:cs typeface="Tahoma"/>
              </a:rPr>
              <a:t> da </a:t>
            </a:r>
            <a:r>
              <a:rPr sz="1100" spc="-10" dirty="0" err="1">
                <a:latin typeface="Tahoma"/>
                <a:cs typeface="Tahoma"/>
              </a:rPr>
              <a:t>visualizzare</a:t>
            </a:r>
            <a:r>
              <a:rPr sz="1100" spc="-10" dirty="0">
                <a:latin typeface="Tahoma"/>
                <a:cs typeface="Tahoma"/>
              </a:rPr>
              <a:t>;</a:t>
            </a:r>
            <a:endParaRPr sz="1100" dirty="0">
              <a:latin typeface="Tahoma"/>
              <a:cs typeface="Tahoma"/>
            </a:endParaRPr>
          </a:p>
          <a:p>
            <a:pPr marL="173990" marR="254000" indent="-136525">
              <a:lnSpc>
                <a:spcPct val="102600"/>
              </a:lnSpc>
              <a:spcBef>
                <a:spcPts val="300"/>
              </a:spcBef>
              <a:buClr>
                <a:srgbClr val="003366"/>
              </a:buClr>
              <a:buFont typeface="Arial"/>
              <a:buChar char="•"/>
              <a:tabLst>
                <a:tab pos="176530" algn="l"/>
              </a:tabLst>
            </a:pPr>
            <a:r>
              <a:rPr sz="1100" spc="-30" dirty="0">
                <a:latin typeface="Tahoma"/>
                <a:cs typeface="Tahoma"/>
              </a:rPr>
              <a:t>Mostrare</a:t>
            </a:r>
            <a:r>
              <a:rPr sz="1100" spc="-35" dirty="0">
                <a:latin typeface="Tahoma"/>
                <a:cs typeface="Tahoma"/>
              </a:rPr>
              <a:t> </a:t>
            </a:r>
            <a:r>
              <a:rPr sz="1100" spc="-30" dirty="0" err="1">
                <a:latin typeface="Tahoma"/>
                <a:cs typeface="Tahoma"/>
              </a:rPr>
              <a:t>servizi</a:t>
            </a:r>
            <a:r>
              <a:rPr sz="1100" spc="-30" dirty="0">
                <a:latin typeface="Tahoma"/>
                <a:cs typeface="Tahoma"/>
              </a:rPr>
              <a:t> </a:t>
            </a:r>
            <a:r>
              <a:rPr sz="1100" spc="-50" dirty="0">
                <a:latin typeface="Tahoma"/>
                <a:cs typeface="Tahoma"/>
              </a:rPr>
              <a:t>e</a:t>
            </a:r>
            <a:r>
              <a:rPr lang="it-IT" sz="1100" spc="-50" dirty="0">
                <a:latin typeface="Tahoma"/>
                <a:cs typeface="Tahoma"/>
              </a:rPr>
              <a:t> </a:t>
            </a:r>
            <a:r>
              <a:rPr sz="1100" spc="-30" dirty="0" err="1">
                <a:latin typeface="Tahoma"/>
                <a:cs typeface="Tahoma"/>
              </a:rPr>
              <a:t>caratteristiche</a:t>
            </a:r>
            <a:r>
              <a:rPr sz="1100" spc="-25" dirty="0">
                <a:latin typeface="Tahoma"/>
                <a:cs typeface="Tahoma"/>
              </a:rPr>
              <a:t> </a:t>
            </a:r>
            <a:r>
              <a:rPr sz="1100" spc="-45" dirty="0">
                <a:latin typeface="Tahoma"/>
                <a:cs typeface="Tahoma"/>
              </a:rPr>
              <a:t>nascoste</a:t>
            </a:r>
            <a:r>
              <a:rPr sz="1100" spc="-20" dirty="0">
                <a:latin typeface="Tahoma"/>
                <a:cs typeface="Tahoma"/>
              </a:rPr>
              <a:t> </a:t>
            </a:r>
            <a:r>
              <a:rPr sz="1100" spc="-50" dirty="0">
                <a:latin typeface="Tahoma"/>
                <a:cs typeface="Tahoma"/>
              </a:rPr>
              <a:t>e 	</a:t>
            </a:r>
            <a:r>
              <a:rPr sz="1100" spc="-40" dirty="0">
                <a:latin typeface="Tahoma"/>
                <a:cs typeface="Tahoma"/>
              </a:rPr>
              <a:t>riavviare</a:t>
            </a:r>
            <a:r>
              <a:rPr sz="1100" spc="-30" dirty="0">
                <a:latin typeface="Tahoma"/>
                <a:cs typeface="Tahoma"/>
              </a:rPr>
              <a:t> </a:t>
            </a:r>
            <a:r>
              <a:rPr sz="1100" dirty="0">
                <a:latin typeface="Tahoma"/>
                <a:cs typeface="Tahoma"/>
              </a:rPr>
              <a:t>la</a:t>
            </a:r>
            <a:r>
              <a:rPr sz="1100" spc="-35" dirty="0">
                <a:latin typeface="Tahoma"/>
                <a:cs typeface="Tahoma"/>
              </a:rPr>
              <a:t> ricerca</a:t>
            </a:r>
            <a:r>
              <a:rPr sz="1100" spc="-30" dirty="0">
                <a:latin typeface="Tahoma"/>
                <a:cs typeface="Tahoma"/>
              </a:rPr>
              <a:t> </a:t>
            </a:r>
            <a:r>
              <a:rPr sz="1100" dirty="0">
                <a:latin typeface="Tahoma"/>
                <a:cs typeface="Tahoma"/>
              </a:rPr>
              <a:t>di</a:t>
            </a:r>
            <a:r>
              <a:rPr sz="1100" spc="-30" dirty="0">
                <a:latin typeface="Tahoma"/>
                <a:cs typeface="Tahoma"/>
              </a:rPr>
              <a:t> </a:t>
            </a:r>
            <a:r>
              <a:rPr sz="1100" spc="-35" dirty="0">
                <a:latin typeface="Tahoma"/>
                <a:cs typeface="Tahoma"/>
              </a:rPr>
              <a:t>servizi;</a:t>
            </a:r>
            <a:endParaRPr sz="1100" dirty="0">
              <a:latin typeface="Tahoma"/>
              <a:cs typeface="Tahoma"/>
            </a:endParaRPr>
          </a:p>
          <a:p>
            <a:pPr marL="173990" marR="31115" indent="-136525">
              <a:lnSpc>
                <a:spcPct val="102600"/>
              </a:lnSpc>
              <a:spcBef>
                <a:spcPts val="300"/>
              </a:spcBef>
              <a:buClr>
                <a:srgbClr val="003366"/>
              </a:buClr>
              <a:buFont typeface="Arial"/>
              <a:buChar char="•"/>
              <a:tabLst>
                <a:tab pos="176530" algn="l"/>
              </a:tabLst>
            </a:pPr>
            <a:r>
              <a:rPr sz="1100" spc="-20" dirty="0">
                <a:latin typeface="Tahoma"/>
                <a:cs typeface="Tahoma"/>
              </a:rPr>
              <a:t>Premuto</a:t>
            </a:r>
            <a:r>
              <a:rPr sz="1100" spc="-65" dirty="0">
                <a:latin typeface="Tahoma"/>
                <a:cs typeface="Tahoma"/>
              </a:rPr>
              <a:t> </a:t>
            </a:r>
            <a:r>
              <a:rPr sz="1100" spc="-25" dirty="0">
                <a:latin typeface="Tahoma"/>
                <a:cs typeface="Tahoma"/>
              </a:rPr>
              <a:t>"Selected"</a:t>
            </a:r>
            <a:r>
              <a:rPr sz="1100" spc="-40" dirty="0">
                <a:latin typeface="Tahoma"/>
                <a:cs typeface="Tahoma"/>
              </a:rPr>
              <a:t> </a:t>
            </a:r>
            <a:r>
              <a:rPr sz="1100" dirty="0">
                <a:latin typeface="Tahoma"/>
                <a:cs typeface="Tahoma"/>
              </a:rPr>
              <a:t>si</a:t>
            </a:r>
            <a:r>
              <a:rPr sz="1100" spc="-40" dirty="0">
                <a:latin typeface="Tahoma"/>
                <a:cs typeface="Tahoma"/>
              </a:rPr>
              <a:t> </a:t>
            </a:r>
            <a:r>
              <a:rPr sz="1100" spc="-65" dirty="0">
                <a:latin typeface="Tahoma"/>
                <a:cs typeface="Tahoma"/>
              </a:rPr>
              <a:t>passa</a:t>
            </a:r>
            <a:r>
              <a:rPr sz="1100" spc="-25" dirty="0">
                <a:latin typeface="Tahoma"/>
                <a:cs typeface="Tahoma"/>
              </a:rPr>
              <a:t> </a:t>
            </a:r>
            <a:r>
              <a:rPr sz="1100" spc="-20" dirty="0">
                <a:latin typeface="Tahoma"/>
                <a:cs typeface="Tahoma"/>
              </a:rPr>
              <a:t>alla 	</a:t>
            </a:r>
            <a:r>
              <a:rPr sz="1100" spc="-40" dirty="0">
                <a:latin typeface="Tahoma"/>
                <a:cs typeface="Tahoma"/>
              </a:rPr>
              <a:t>pagina</a:t>
            </a:r>
            <a:r>
              <a:rPr sz="1100" spc="-30" dirty="0">
                <a:latin typeface="Tahoma"/>
                <a:cs typeface="Tahoma"/>
              </a:rPr>
              <a:t> </a:t>
            </a:r>
            <a:r>
              <a:rPr sz="1100" spc="-50" dirty="0">
                <a:latin typeface="Tahoma"/>
                <a:cs typeface="Tahoma"/>
              </a:rPr>
              <a:t>successiva,</a:t>
            </a:r>
            <a:r>
              <a:rPr sz="1100" spc="-25" dirty="0">
                <a:latin typeface="Tahoma"/>
                <a:cs typeface="Tahoma"/>
              </a:rPr>
              <a:t> </a:t>
            </a:r>
            <a:r>
              <a:rPr sz="1100" spc="-40" dirty="0">
                <a:latin typeface="Tahoma"/>
                <a:cs typeface="Tahoma"/>
              </a:rPr>
              <a:t>che</a:t>
            </a:r>
            <a:r>
              <a:rPr sz="1100" spc="-25" dirty="0">
                <a:latin typeface="Tahoma"/>
                <a:cs typeface="Tahoma"/>
              </a:rPr>
              <a:t> </a:t>
            </a:r>
            <a:r>
              <a:rPr sz="1100" spc="-10" dirty="0">
                <a:latin typeface="Tahoma"/>
                <a:cs typeface="Tahoma"/>
              </a:rPr>
              <a:t>mostra 	</a:t>
            </a:r>
            <a:r>
              <a:rPr sz="1100" spc="-25" dirty="0">
                <a:latin typeface="Tahoma"/>
                <a:cs typeface="Tahoma"/>
              </a:rPr>
              <a:t>l’elenco</a:t>
            </a:r>
            <a:r>
              <a:rPr sz="1100" spc="-50" dirty="0">
                <a:latin typeface="Tahoma"/>
                <a:cs typeface="Tahoma"/>
              </a:rPr>
              <a:t> </a:t>
            </a:r>
            <a:r>
              <a:rPr sz="1100" spc="-30" dirty="0">
                <a:latin typeface="Tahoma"/>
                <a:cs typeface="Tahoma"/>
              </a:rPr>
              <a:t>ordinato</a:t>
            </a:r>
            <a:r>
              <a:rPr sz="1100" spc="-45" dirty="0">
                <a:latin typeface="Tahoma"/>
                <a:cs typeface="Tahoma"/>
              </a:rPr>
              <a:t> </a:t>
            </a:r>
            <a:r>
              <a:rPr sz="1100" spc="-30" dirty="0">
                <a:latin typeface="Tahoma"/>
                <a:cs typeface="Tahoma"/>
              </a:rPr>
              <a:t>delle</a:t>
            </a:r>
            <a:r>
              <a:rPr sz="1100" spc="-40" dirty="0">
                <a:latin typeface="Tahoma"/>
                <a:cs typeface="Tahoma"/>
              </a:rPr>
              <a:t> </a:t>
            </a:r>
            <a:r>
              <a:rPr sz="1100" spc="-10" dirty="0">
                <a:latin typeface="Tahoma"/>
                <a:cs typeface="Tahoma"/>
              </a:rPr>
              <a:t>scelte.</a:t>
            </a:r>
            <a:endParaRPr sz="1100" dirty="0">
              <a:latin typeface="Tahoma"/>
              <a:cs typeface="Tahoma"/>
            </a:endParaRPr>
          </a:p>
        </p:txBody>
      </p:sp>
      <p:pic>
        <p:nvPicPr>
          <p:cNvPr id="6" name="object 6"/>
          <p:cNvPicPr/>
          <p:nvPr/>
        </p:nvPicPr>
        <p:blipFill>
          <a:blip r:embed="rId5" cstate="print"/>
          <a:stretch>
            <a:fillRect/>
          </a:stretch>
        </p:blipFill>
        <p:spPr>
          <a:xfrm>
            <a:off x="2764193" y="2232310"/>
            <a:ext cx="1069127" cy="971124"/>
          </a:xfrm>
          <a:prstGeom prst="rect">
            <a:avLst/>
          </a:prstGeom>
        </p:spPr>
      </p:pic>
      <p:grpSp>
        <p:nvGrpSpPr>
          <p:cNvPr id="7" name="object 7"/>
          <p:cNvGrpSpPr/>
          <p:nvPr/>
        </p:nvGrpSpPr>
        <p:grpSpPr>
          <a:xfrm>
            <a:off x="2072740" y="2739483"/>
            <a:ext cx="540385" cy="89535"/>
            <a:chOff x="2156650" y="2986553"/>
            <a:chExt cx="540385" cy="89535"/>
          </a:xfrm>
        </p:grpSpPr>
        <p:sp>
          <p:nvSpPr>
            <p:cNvPr id="8" name="object 8"/>
            <p:cNvSpPr/>
            <p:nvPr/>
          </p:nvSpPr>
          <p:spPr>
            <a:xfrm>
              <a:off x="2156650" y="3031091"/>
              <a:ext cx="525780" cy="0"/>
            </a:xfrm>
            <a:custGeom>
              <a:avLst/>
              <a:gdLst/>
              <a:ahLst/>
              <a:cxnLst/>
              <a:rect l="l" t="t" r="r" b="b"/>
              <a:pathLst>
                <a:path w="525780">
                  <a:moveTo>
                    <a:pt x="0" y="0"/>
                  </a:moveTo>
                  <a:lnTo>
                    <a:pt x="525487" y="0"/>
                  </a:lnTo>
                </a:path>
              </a:pathLst>
            </a:custGeom>
            <a:ln w="18979">
              <a:solidFill>
                <a:srgbClr val="003366"/>
              </a:solidFill>
            </a:ln>
          </p:spPr>
          <p:txBody>
            <a:bodyPr wrap="square" lIns="0" tIns="0" rIns="0" bIns="0" rtlCol="0"/>
            <a:lstStyle/>
            <a:p>
              <a:endParaRPr/>
            </a:p>
          </p:txBody>
        </p:sp>
        <p:sp>
          <p:nvSpPr>
            <p:cNvPr id="9" name="object 9"/>
            <p:cNvSpPr/>
            <p:nvPr/>
          </p:nvSpPr>
          <p:spPr>
            <a:xfrm>
              <a:off x="2654429" y="2994145"/>
              <a:ext cx="34925" cy="74295"/>
            </a:xfrm>
            <a:custGeom>
              <a:avLst/>
              <a:gdLst/>
              <a:ahLst/>
              <a:cxnLst/>
              <a:rect l="l" t="t" r="r" b="b"/>
              <a:pathLst>
                <a:path w="34925" h="74294">
                  <a:moveTo>
                    <a:pt x="0" y="0"/>
                  </a:moveTo>
                  <a:lnTo>
                    <a:pt x="5411" y="11292"/>
                  </a:lnTo>
                  <a:lnTo>
                    <a:pt x="15586" y="22802"/>
                  </a:lnTo>
                  <a:lnTo>
                    <a:pt x="26626" y="32147"/>
                  </a:lnTo>
                  <a:lnTo>
                    <a:pt x="34636" y="36945"/>
                  </a:lnTo>
                  <a:lnTo>
                    <a:pt x="26626" y="41744"/>
                  </a:lnTo>
                  <a:lnTo>
                    <a:pt x="15586" y="51088"/>
                  </a:lnTo>
                  <a:lnTo>
                    <a:pt x="5411" y="62598"/>
                  </a:lnTo>
                  <a:lnTo>
                    <a:pt x="0" y="73891"/>
                  </a:lnTo>
                </a:path>
              </a:pathLst>
            </a:custGeom>
            <a:ln w="15183">
              <a:solidFill>
                <a:srgbClr val="003366"/>
              </a:solidFill>
            </a:ln>
          </p:spPr>
          <p:txBody>
            <a:bodyPr wrap="square" lIns="0" tIns="0" rIns="0" bIns="0" rtlCol="0"/>
            <a:lstStyle/>
            <a:p>
              <a:endParaRPr/>
            </a:p>
          </p:txBody>
        </p:sp>
      </p:grpSp>
      <p:sp>
        <p:nvSpPr>
          <p:cNvPr id="10" name="object 10"/>
          <p:cNvSpPr/>
          <p:nvPr/>
        </p:nvSpPr>
        <p:spPr>
          <a:xfrm>
            <a:off x="0" y="3346348"/>
            <a:ext cx="4608195" cy="109855"/>
          </a:xfrm>
          <a:custGeom>
            <a:avLst/>
            <a:gdLst/>
            <a:ahLst/>
            <a:cxnLst/>
            <a:rect l="l" t="t" r="r" b="b"/>
            <a:pathLst>
              <a:path w="4608195" h="109854">
                <a:moveTo>
                  <a:pt x="4608004" y="0"/>
                </a:moveTo>
                <a:lnTo>
                  <a:pt x="3225584" y="0"/>
                </a:lnTo>
                <a:lnTo>
                  <a:pt x="1382420" y="0"/>
                </a:lnTo>
                <a:lnTo>
                  <a:pt x="0" y="0"/>
                </a:lnTo>
                <a:lnTo>
                  <a:pt x="0" y="109651"/>
                </a:lnTo>
                <a:lnTo>
                  <a:pt x="1382407"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11" name="object 11"/>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12" name="object 12"/>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6" action="ppaction://hlinksldjump"/>
              </a:rPr>
              <a:t>Sistema</a:t>
            </a:r>
            <a:r>
              <a:rPr sz="600" spc="20"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per</a:t>
            </a:r>
            <a:r>
              <a:rPr sz="600" spc="20"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Esperimenti</a:t>
            </a:r>
            <a:r>
              <a:rPr sz="600" spc="25"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di</a:t>
            </a:r>
            <a:r>
              <a:rPr sz="600" spc="25"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Biofeedback</a:t>
            </a:r>
            <a:endParaRPr sz="600">
              <a:latin typeface="Arial MT"/>
              <a:cs typeface="Arial MT"/>
            </a:endParaRPr>
          </a:p>
        </p:txBody>
      </p:sp>
      <p:sp>
        <p:nvSpPr>
          <p:cNvPr id="13" name="object 13"/>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7</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961" y="78569"/>
            <a:ext cx="2453005" cy="288290"/>
          </a:xfrm>
          <a:prstGeom prst="rect">
            <a:avLst/>
          </a:prstGeom>
        </p:spPr>
        <p:txBody>
          <a:bodyPr vert="horz" wrap="square" lIns="0" tIns="15240" rIns="0" bIns="0" rtlCol="0">
            <a:spAutoFit/>
          </a:bodyPr>
          <a:lstStyle/>
          <a:p>
            <a:pPr marL="12700">
              <a:lnSpc>
                <a:spcPct val="100000"/>
              </a:lnSpc>
              <a:spcBef>
                <a:spcPts val="120"/>
              </a:spcBef>
            </a:pPr>
            <a:r>
              <a:rPr spc="-70" dirty="0"/>
              <a:t>Applicazione</a:t>
            </a:r>
            <a:r>
              <a:rPr spc="-65" dirty="0"/>
              <a:t> </a:t>
            </a:r>
            <a:r>
              <a:rPr spc="-30" dirty="0"/>
              <a:t>Flutter:</a:t>
            </a:r>
            <a:r>
              <a:rPr spc="5" dirty="0"/>
              <a:t> </a:t>
            </a:r>
            <a:r>
              <a:rPr spc="-40" dirty="0"/>
              <a:t>Grafici</a:t>
            </a: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359994" y="830618"/>
            <a:ext cx="1043411" cy="2044204"/>
          </a:xfrm>
          <a:prstGeom prst="rect">
            <a:avLst/>
          </a:prstGeom>
        </p:spPr>
      </p:pic>
      <p:pic>
        <p:nvPicPr>
          <p:cNvPr id="5" name="object 5"/>
          <p:cNvPicPr/>
          <p:nvPr/>
        </p:nvPicPr>
        <p:blipFill>
          <a:blip r:embed="rId5" cstate="print"/>
          <a:stretch>
            <a:fillRect/>
          </a:stretch>
        </p:blipFill>
        <p:spPr>
          <a:xfrm>
            <a:off x="1450581" y="814285"/>
            <a:ext cx="1047730" cy="2060537"/>
          </a:xfrm>
          <a:prstGeom prst="rect">
            <a:avLst/>
          </a:prstGeom>
        </p:spPr>
      </p:pic>
      <p:sp>
        <p:nvSpPr>
          <p:cNvPr id="6" name="object 6"/>
          <p:cNvSpPr txBox="1"/>
          <p:nvPr/>
        </p:nvSpPr>
        <p:spPr>
          <a:xfrm>
            <a:off x="2598864" y="797165"/>
            <a:ext cx="1614170" cy="2294890"/>
          </a:xfrm>
          <a:prstGeom prst="rect">
            <a:avLst/>
          </a:prstGeom>
        </p:spPr>
        <p:txBody>
          <a:bodyPr vert="horz" wrap="square" lIns="0" tIns="6985" rIns="0" bIns="0" rtlCol="0">
            <a:spAutoFit/>
          </a:bodyPr>
          <a:lstStyle/>
          <a:p>
            <a:pPr marL="173990" marR="30480" indent="-136525">
              <a:lnSpc>
                <a:spcPct val="102600"/>
              </a:lnSpc>
              <a:spcBef>
                <a:spcPts val="55"/>
              </a:spcBef>
              <a:buFont typeface="Arial"/>
              <a:buChar char="•"/>
              <a:tabLst>
                <a:tab pos="176530" algn="l"/>
              </a:tabLst>
            </a:pPr>
            <a:r>
              <a:rPr sz="1100" spc="-10" dirty="0">
                <a:solidFill>
                  <a:srgbClr val="003366"/>
                </a:solidFill>
                <a:latin typeface="Tahoma"/>
                <a:cs typeface="Tahoma"/>
              </a:rPr>
              <a:t>Pulse</a:t>
            </a:r>
            <a:r>
              <a:rPr sz="1100" spc="-60" dirty="0">
                <a:solidFill>
                  <a:srgbClr val="003366"/>
                </a:solidFill>
                <a:latin typeface="Tahoma"/>
                <a:cs typeface="Tahoma"/>
              </a:rPr>
              <a:t> </a:t>
            </a:r>
            <a:r>
              <a:rPr sz="1100" spc="-45" dirty="0">
                <a:solidFill>
                  <a:srgbClr val="003366"/>
                </a:solidFill>
                <a:latin typeface="Tahoma"/>
                <a:cs typeface="Tahoma"/>
              </a:rPr>
              <a:t>Sensor</a:t>
            </a:r>
            <a:r>
              <a:rPr sz="1100" spc="-45" dirty="0">
                <a:latin typeface="Tahoma"/>
                <a:cs typeface="Tahoma"/>
              </a:rPr>
              <a:t>:</a:t>
            </a:r>
            <a:r>
              <a:rPr sz="1100" spc="40" dirty="0">
                <a:latin typeface="Tahoma"/>
                <a:cs typeface="Tahoma"/>
              </a:rPr>
              <a:t> </a:t>
            </a:r>
            <a:r>
              <a:rPr sz="1100" dirty="0">
                <a:latin typeface="Tahoma"/>
                <a:cs typeface="Tahoma"/>
              </a:rPr>
              <a:t>la</a:t>
            </a:r>
            <a:r>
              <a:rPr sz="1100" spc="-60" dirty="0">
                <a:latin typeface="Tahoma"/>
                <a:cs typeface="Tahoma"/>
              </a:rPr>
              <a:t> </a:t>
            </a:r>
            <a:r>
              <a:rPr sz="1100" spc="-10" dirty="0">
                <a:latin typeface="Tahoma"/>
                <a:cs typeface="Tahoma"/>
              </a:rPr>
              <a:t>pagina 	</a:t>
            </a:r>
            <a:r>
              <a:rPr sz="1100" spc="-30" dirty="0">
                <a:latin typeface="Tahoma"/>
                <a:cs typeface="Tahoma"/>
              </a:rPr>
              <a:t>relativa</a:t>
            </a:r>
            <a:r>
              <a:rPr sz="1100" spc="-50" dirty="0">
                <a:latin typeface="Tahoma"/>
                <a:cs typeface="Tahoma"/>
              </a:rPr>
              <a:t> </a:t>
            </a:r>
            <a:r>
              <a:rPr sz="1100" dirty="0">
                <a:latin typeface="Tahoma"/>
                <a:cs typeface="Tahoma"/>
              </a:rPr>
              <a:t>alla</a:t>
            </a:r>
            <a:r>
              <a:rPr sz="1100" spc="-40" dirty="0">
                <a:latin typeface="Tahoma"/>
                <a:cs typeface="Tahoma"/>
              </a:rPr>
              <a:t> </a:t>
            </a:r>
            <a:r>
              <a:rPr sz="1100" spc="-20" dirty="0">
                <a:latin typeface="Tahoma"/>
                <a:cs typeface="Tahoma"/>
              </a:rPr>
              <a:t>lettura</a:t>
            </a:r>
            <a:r>
              <a:rPr sz="1100" spc="-50" dirty="0">
                <a:latin typeface="Tahoma"/>
                <a:cs typeface="Tahoma"/>
              </a:rPr>
              <a:t> </a:t>
            </a:r>
            <a:r>
              <a:rPr sz="1100" spc="-25" dirty="0">
                <a:latin typeface="Tahoma"/>
                <a:cs typeface="Tahoma"/>
              </a:rPr>
              <a:t>del 	</a:t>
            </a:r>
            <a:r>
              <a:rPr sz="1100" spc="-75" dirty="0">
                <a:latin typeface="Tahoma"/>
                <a:cs typeface="Tahoma"/>
              </a:rPr>
              <a:t>sensore</a:t>
            </a:r>
            <a:r>
              <a:rPr sz="1100" spc="-5" dirty="0">
                <a:latin typeface="Tahoma"/>
                <a:cs typeface="Tahoma"/>
              </a:rPr>
              <a:t> </a:t>
            </a:r>
            <a:r>
              <a:rPr sz="1100" dirty="0">
                <a:latin typeface="Tahoma"/>
                <a:cs typeface="Tahoma"/>
              </a:rPr>
              <a:t>di </a:t>
            </a:r>
            <a:r>
              <a:rPr sz="1100" spc="-10" dirty="0">
                <a:latin typeface="Tahoma"/>
                <a:cs typeface="Tahoma"/>
              </a:rPr>
              <a:t>battito 	</a:t>
            </a:r>
            <a:r>
              <a:rPr sz="1100" spc="-55" dirty="0">
                <a:latin typeface="Tahoma"/>
                <a:cs typeface="Tahoma"/>
              </a:rPr>
              <a:t>presenta</a:t>
            </a:r>
            <a:r>
              <a:rPr sz="1100" spc="-10" dirty="0">
                <a:latin typeface="Tahoma"/>
                <a:cs typeface="Tahoma"/>
              </a:rPr>
              <a:t> </a:t>
            </a:r>
            <a:r>
              <a:rPr sz="1100" spc="-55" dirty="0">
                <a:latin typeface="Tahoma"/>
                <a:cs typeface="Tahoma"/>
              </a:rPr>
              <a:t>anche</a:t>
            </a:r>
            <a:r>
              <a:rPr sz="1100" spc="-5" dirty="0">
                <a:latin typeface="Tahoma"/>
                <a:cs typeface="Tahoma"/>
              </a:rPr>
              <a:t> </a:t>
            </a:r>
            <a:r>
              <a:rPr sz="1100" spc="-25" dirty="0">
                <a:latin typeface="Tahoma"/>
                <a:cs typeface="Tahoma"/>
              </a:rPr>
              <a:t>la 	</a:t>
            </a:r>
            <a:r>
              <a:rPr sz="1100" spc="-35" dirty="0">
                <a:latin typeface="Tahoma"/>
                <a:cs typeface="Tahoma"/>
              </a:rPr>
              <a:t>visualizzazione</a:t>
            </a:r>
            <a:r>
              <a:rPr sz="1100" spc="-5" dirty="0">
                <a:latin typeface="Tahoma"/>
                <a:cs typeface="Tahoma"/>
              </a:rPr>
              <a:t> </a:t>
            </a:r>
            <a:r>
              <a:rPr sz="1100" spc="-20" dirty="0">
                <a:latin typeface="Tahoma"/>
                <a:cs typeface="Tahoma"/>
              </a:rPr>
              <a:t>dei</a:t>
            </a:r>
            <a:r>
              <a:rPr sz="1100" spc="-5" dirty="0">
                <a:latin typeface="Tahoma"/>
                <a:cs typeface="Tahoma"/>
              </a:rPr>
              <a:t> </a:t>
            </a:r>
            <a:r>
              <a:rPr sz="1100" spc="55" dirty="0">
                <a:latin typeface="Tahoma"/>
                <a:cs typeface="Tahoma"/>
              </a:rPr>
              <a:t>BPM 	</a:t>
            </a:r>
            <a:r>
              <a:rPr sz="1100" dirty="0">
                <a:latin typeface="Tahoma"/>
                <a:cs typeface="Tahoma"/>
              </a:rPr>
              <a:t>e</a:t>
            </a:r>
            <a:r>
              <a:rPr sz="1100" spc="-55" dirty="0">
                <a:latin typeface="Tahoma"/>
                <a:cs typeface="Tahoma"/>
              </a:rPr>
              <a:t> </a:t>
            </a:r>
            <a:r>
              <a:rPr sz="1100" spc="-30" dirty="0">
                <a:latin typeface="Tahoma"/>
                <a:cs typeface="Tahoma"/>
              </a:rPr>
              <a:t>delle</a:t>
            </a:r>
            <a:r>
              <a:rPr sz="1100" spc="-50" dirty="0">
                <a:latin typeface="Tahoma"/>
                <a:cs typeface="Tahoma"/>
              </a:rPr>
              <a:t> </a:t>
            </a:r>
            <a:r>
              <a:rPr sz="1100" spc="-35" dirty="0">
                <a:latin typeface="Tahoma"/>
                <a:cs typeface="Tahoma"/>
              </a:rPr>
              <a:t>metriche</a:t>
            </a:r>
            <a:r>
              <a:rPr sz="1100" spc="-50" dirty="0">
                <a:latin typeface="Tahoma"/>
                <a:cs typeface="Tahoma"/>
              </a:rPr>
              <a:t> </a:t>
            </a:r>
            <a:r>
              <a:rPr sz="1100" spc="-20" dirty="0">
                <a:latin typeface="Tahoma"/>
                <a:cs typeface="Tahoma"/>
              </a:rPr>
              <a:t>HRV;</a:t>
            </a:r>
            <a:endParaRPr sz="1100">
              <a:latin typeface="Tahoma"/>
              <a:cs typeface="Tahoma"/>
            </a:endParaRPr>
          </a:p>
          <a:p>
            <a:pPr marL="173990" marR="50800" indent="-136525">
              <a:lnSpc>
                <a:spcPct val="102600"/>
              </a:lnSpc>
              <a:spcBef>
                <a:spcPts val="300"/>
              </a:spcBef>
              <a:buFont typeface="Arial"/>
              <a:buChar char="•"/>
              <a:tabLst>
                <a:tab pos="176530" algn="l"/>
              </a:tabLst>
            </a:pPr>
            <a:r>
              <a:rPr sz="1100" dirty="0">
                <a:solidFill>
                  <a:srgbClr val="003366"/>
                </a:solidFill>
                <a:latin typeface="Tahoma"/>
                <a:cs typeface="Tahoma"/>
              </a:rPr>
              <a:t>GSR</a:t>
            </a:r>
            <a:r>
              <a:rPr sz="1100" spc="-40" dirty="0">
                <a:solidFill>
                  <a:srgbClr val="003366"/>
                </a:solidFill>
                <a:latin typeface="Tahoma"/>
                <a:cs typeface="Tahoma"/>
              </a:rPr>
              <a:t> </a:t>
            </a:r>
            <a:r>
              <a:rPr sz="1100" spc="-45" dirty="0">
                <a:solidFill>
                  <a:srgbClr val="003366"/>
                </a:solidFill>
                <a:latin typeface="Tahoma"/>
                <a:cs typeface="Tahoma"/>
              </a:rPr>
              <a:t>Sensor</a:t>
            </a:r>
            <a:r>
              <a:rPr sz="1100" spc="-45" dirty="0">
                <a:latin typeface="Tahoma"/>
                <a:cs typeface="Tahoma"/>
              </a:rPr>
              <a:t>:</a:t>
            </a:r>
            <a:r>
              <a:rPr sz="1100" spc="70" dirty="0">
                <a:latin typeface="Tahoma"/>
                <a:cs typeface="Tahoma"/>
              </a:rPr>
              <a:t> </a:t>
            </a:r>
            <a:r>
              <a:rPr sz="1100" dirty="0">
                <a:latin typeface="Tahoma"/>
                <a:cs typeface="Tahoma"/>
              </a:rPr>
              <a:t>la</a:t>
            </a:r>
            <a:r>
              <a:rPr sz="1100" spc="-40" dirty="0">
                <a:latin typeface="Tahoma"/>
                <a:cs typeface="Tahoma"/>
              </a:rPr>
              <a:t> </a:t>
            </a:r>
            <a:r>
              <a:rPr sz="1100" spc="-10" dirty="0">
                <a:latin typeface="Tahoma"/>
                <a:cs typeface="Tahoma"/>
              </a:rPr>
              <a:t>pagina 	</a:t>
            </a:r>
            <a:r>
              <a:rPr sz="1100" spc="-30" dirty="0">
                <a:latin typeface="Tahoma"/>
                <a:cs typeface="Tahoma"/>
              </a:rPr>
              <a:t>relativa</a:t>
            </a:r>
            <a:r>
              <a:rPr sz="1100" spc="-50" dirty="0">
                <a:latin typeface="Tahoma"/>
                <a:cs typeface="Tahoma"/>
              </a:rPr>
              <a:t> </a:t>
            </a:r>
            <a:r>
              <a:rPr sz="1100" dirty="0">
                <a:latin typeface="Tahoma"/>
                <a:cs typeface="Tahoma"/>
              </a:rPr>
              <a:t>alla</a:t>
            </a:r>
            <a:r>
              <a:rPr sz="1100" spc="-40" dirty="0">
                <a:latin typeface="Tahoma"/>
                <a:cs typeface="Tahoma"/>
              </a:rPr>
              <a:t> </a:t>
            </a:r>
            <a:r>
              <a:rPr sz="1100" spc="-20" dirty="0">
                <a:latin typeface="Tahoma"/>
                <a:cs typeface="Tahoma"/>
              </a:rPr>
              <a:t>lettura</a:t>
            </a:r>
            <a:r>
              <a:rPr sz="1100" spc="-50" dirty="0">
                <a:latin typeface="Tahoma"/>
                <a:cs typeface="Tahoma"/>
              </a:rPr>
              <a:t> </a:t>
            </a:r>
            <a:r>
              <a:rPr sz="1100" spc="-25" dirty="0">
                <a:latin typeface="Tahoma"/>
                <a:cs typeface="Tahoma"/>
              </a:rPr>
              <a:t>del 	</a:t>
            </a:r>
            <a:r>
              <a:rPr sz="1100" spc="-75" dirty="0">
                <a:latin typeface="Tahoma"/>
                <a:cs typeface="Tahoma"/>
              </a:rPr>
              <a:t>sensore</a:t>
            </a:r>
            <a:r>
              <a:rPr sz="1100" spc="-5" dirty="0">
                <a:latin typeface="Tahoma"/>
                <a:cs typeface="Tahoma"/>
              </a:rPr>
              <a:t> </a:t>
            </a:r>
            <a:r>
              <a:rPr sz="1100" dirty="0">
                <a:latin typeface="Tahoma"/>
                <a:cs typeface="Tahoma"/>
              </a:rPr>
              <a:t>di </a:t>
            </a:r>
            <a:r>
              <a:rPr sz="1100" spc="-10" dirty="0">
                <a:latin typeface="Tahoma"/>
                <a:cs typeface="Tahoma"/>
              </a:rPr>
              <a:t>conduttanza 	</a:t>
            </a:r>
            <a:r>
              <a:rPr sz="1100" spc="-25" dirty="0">
                <a:latin typeface="Tahoma"/>
                <a:cs typeface="Tahoma"/>
              </a:rPr>
              <a:t>della</a:t>
            </a:r>
            <a:r>
              <a:rPr sz="1100" spc="-55" dirty="0">
                <a:latin typeface="Tahoma"/>
                <a:cs typeface="Tahoma"/>
              </a:rPr>
              <a:t> </a:t>
            </a:r>
            <a:r>
              <a:rPr sz="1100" spc="-25" dirty="0">
                <a:latin typeface="Tahoma"/>
                <a:cs typeface="Tahoma"/>
              </a:rPr>
              <a:t>pelle</a:t>
            </a:r>
            <a:r>
              <a:rPr sz="1100" spc="-45" dirty="0">
                <a:latin typeface="Tahoma"/>
                <a:cs typeface="Tahoma"/>
              </a:rPr>
              <a:t> </a:t>
            </a:r>
            <a:r>
              <a:rPr sz="1100" spc="-10" dirty="0">
                <a:latin typeface="Tahoma"/>
                <a:cs typeface="Tahoma"/>
              </a:rPr>
              <a:t>presenta 	</a:t>
            </a:r>
            <a:r>
              <a:rPr sz="1100" spc="-55" dirty="0">
                <a:latin typeface="Tahoma"/>
                <a:cs typeface="Tahoma"/>
              </a:rPr>
              <a:t>anche</a:t>
            </a:r>
            <a:r>
              <a:rPr sz="1100" spc="-10" dirty="0">
                <a:latin typeface="Tahoma"/>
                <a:cs typeface="Tahoma"/>
              </a:rPr>
              <a:t> </a:t>
            </a:r>
            <a:r>
              <a:rPr sz="1100" dirty="0">
                <a:latin typeface="Tahoma"/>
                <a:cs typeface="Tahoma"/>
              </a:rPr>
              <a:t>la</a:t>
            </a:r>
            <a:r>
              <a:rPr sz="1100" spc="-10" dirty="0">
                <a:latin typeface="Tahoma"/>
                <a:cs typeface="Tahoma"/>
              </a:rPr>
              <a:t> </a:t>
            </a:r>
            <a:r>
              <a:rPr sz="1100" spc="-30" dirty="0">
                <a:latin typeface="Tahoma"/>
                <a:cs typeface="Tahoma"/>
              </a:rPr>
              <a:t>visualizzazione 	delle</a:t>
            </a:r>
            <a:r>
              <a:rPr sz="1100" spc="-35" dirty="0">
                <a:latin typeface="Tahoma"/>
                <a:cs typeface="Tahoma"/>
              </a:rPr>
              <a:t> </a:t>
            </a:r>
            <a:r>
              <a:rPr sz="1100" spc="-40" dirty="0">
                <a:latin typeface="Tahoma"/>
                <a:cs typeface="Tahoma"/>
              </a:rPr>
              <a:t>componenti </a:t>
            </a:r>
            <a:r>
              <a:rPr sz="1100" spc="-25" dirty="0">
                <a:latin typeface="Tahoma"/>
                <a:cs typeface="Tahoma"/>
              </a:rPr>
              <a:t>tonica 	</a:t>
            </a:r>
            <a:r>
              <a:rPr sz="1100" dirty="0">
                <a:latin typeface="Tahoma"/>
                <a:cs typeface="Tahoma"/>
              </a:rPr>
              <a:t>e</a:t>
            </a:r>
            <a:r>
              <a:rPr sz="1100" spc="-75" dirty="0">
                <a:latin typeface="Tahoma"/>
                <a:cs typeface="Tahoma"/>
              </a:rPr>
              <a:t> </a:t>
            </a:r>
            <a:r>
              <a:rPr sz="1100" spc="-10" dirty="0">
                <a:latin typeface="Tahoma"/>
                <a:cs typeface="Tahoma"/>
              </a:rPr>
              <a:t>fasica;</a:t>
            </a:r>
            <a:endParaRPr sz="1100">
              <a:latin typeface="Tahoma"/>
              <a:cs typeface="Tahoma"/>
            </a:endParaRPr>
          </a:p>
        </p:txBody>
      </p:sp>
      <p:sp>
        <p:nvSpPr>
          <p:cNvPr id="7" name="object 7"/>
          <p:cNvSpPr/>
          <p:nvPr/>
        </p:nvSpPr>
        <p:spPr>
          <a:xfrm>
            <a:off x="0" y="3346361"/>
            <a:ext cx="4608195" cy="109855"/>
          </a:xfrm>
          <a:custGeom>
            <a:avLst/>
            <a:gdLst/>
            <a:ahLst/>
            <a:cxnLst/>
            <a:rect l="l" t="t" r="r" b="b"/>
            <a:pathLst>
              <a:path w="4608195" h="109854">
                <a:moveTo>
                  <a:pt x="4608004" y="0"/>
                </a:moveTo>
                <a:lnTo>
                  <a:pt x="3225584" y="0"/>
                </a:lnTo>
                <a:lnTo>
                  <a:pt x="1382420" y="0"/>
                </a:lnTo>
                <a:lnTo>
                  <a:pt x="0" y="0"/>
                </a:lnTo>
                <a:lnTo>
                  <a:pt x="0" y="109639"/>
                </a:lnTo>
                <a:lnTo>
                  <a:pt x="1382407" y="109639"/>
                </a:lnTo>
                <a:lnTo>
                  <a:pt x="3225584" y="109639"/>
                </a:lnTo>
                <a:lnTo>
                  <a:pt x="4608004" y="109639"/>
                </a:lnTo>
                <a:lnTo>
                  <a:pt x="4608004" y="0"/>
                </a:lnTo>
                <a:close/>
              </a:path>
            </a:pathLst>
          </a:custGeom>
          <a:solidFill>
            <a:srgbClr val="003366"/>
          </a:solid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9" name="object 9"/>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6" action="ppaction://hlinksldjump"/>
              </a:rPr>
              <a:t>Sistema</a:t>
            </a:r>
            <a:r>
              <a:rPr sz="600" spc="20"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per</a:t>
            </a:r>
            <a:r>
              <a:rPr sz="600" spc="20"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Esperimenti</a:t>
            </a:r>
            <a:r>
              <a:rPr sz="600" spc="25"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di</a:t>
            </a:r>
            <a:r>
              <a:rPr sz="600" spc="25"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Biofeedback</a:t>
            </a:r>
            <a:endParaRPr sz="600">
              <a:latin typeface="Arial MT"/>
              <a:cs typeface="Arial MT"/>
            </a:endParaRPr>
          </a:p>
        </p:txBody>
      </p:sp>
      <p:sp>
        <p:nvSpPr>
          <p:cNvPr id="10" name="object 10"/>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8</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9961" y="99829"/>
            <a:ext cx="530860" cy="288290"/>
          </a:xfrm>
          <a:prstGeom prst="rect">
            <a:avLst/>
          </a:prstGeom>
        </p:spPr>
        <p:txBody>
          <a:bodyPr vert="horz" wrap="square" lIns="0" tIns="15240" rIns="0" bIns="0" rtlCol="0">
            <a:spAutoFit/>
          </a:bodyPr>
          <a:lstStyle/>
          <a:p>
            <a:pPr marL="12700">
              <a:lnSpc>
                <a:spcPct val="100000"/>
              </a:lnSpc>
              <a:spcBef>
                <a:spcPts val="120"/>
              </a:spcBef>
            </a:pPr>
            <a:r>
              <a:rPr sz="1700" spc="-100" dirty="0">
                <a:solidFill>
                  <a:srgbClr val="FFFFFF"/>
                </a:solidFill>
                <a:latin typeface="Tahoma"/>
                <a:cs typeface="Tahoma"/>
              </a:rPr>
              <a:t>Demo</a:t>
            </a:r>
            <a:endParaRPr sz="1700" dirty="0">
              <a:latin typeface="Tahoma"/>
              <a:cs typeface="Tahoma"/>
            </a:endParaRPr>
          </a:p>
        </p:txBody>
      </p:sp>
      <p:pic>
        <p:nvPicPr>
          <p:cNvPr id="3" name="object 3"/>
          <p:cNvPicPr/>
          <p:nvPr/>
        </p:nvPicPr>
        <p:blipFill>
          <a:blip r:embed="rId5" cstate="print"/>
          <a:stretch>
            <a:fillRect/>
          </a:stretch>
        </p:blipFill>
        <p:spPr>
          <a:xfrm>
            <a:off x="3527996" y="47072"/>
            <a:ext cx="1080007" cy="423538"/>
          </a:xfrm>
          <a:prstGeom prst="rect">
            <a:avLst/>
          </a:prstGeom>
        </p:spPr>
      </p:pic>
      <p:sp>
        <p:nvSpPr>
          <p:cNvPr id="4" name="object 4"/>
          <p:cNvSpPr/>
          <p:nvPr/>
        </p:nvSpPr>
        <p:spPr>
          <a:xfrm>
            <a:off x="0" y="3346348"/>
            <a:ext cx="4608195" cy="109855"/>
          </a:xfrm>
          <a:custGeom>
            <a:avLst/>
            <a:gdLst/>
            <a:ahLst/>
            <a:cxnLst/>
            <a:rect l="l" t="t" r="r" b="b"/>
            <a:pathLst>
              <a:path w="4608195" h="109854">
                <a:moveTo>
                  <a:pt x="4608004" y="0"/>
                </a:moveTo>
                <a:lnTo>
                  <a:pt x="3225596" y="0"/>
                </a:lnTo>
                <a:lnTo>
                  <a:pt x="1382420" y="0"/>
                </a:lnTo>
                <a:lnTo>
                  <a:pt x="0" y="0"/>
                </a:lnTo>
                <a:lnTo>
                  <a:pt x="0" y="109651"/>
                </a:lnTo>
                <a:lnTo>
                  <a:pt x="1382420"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17" name="Titolo 16">
            <a:extLst>
              <a:ext uri="{FF2B5EF4-FFF2-40B4-BE49-F238E27FC236}">
                <a16:creationId xmlns:a16="http://schemas.microsoft.com/office/drawing/2014/main" id="{E4AECAE3-7A11-67B9-9F5A-8BDC6305A0DA}"/>
              </a:ext>
            </a:extLst>
          </p:cNvPr>
          <p:cNvSpPr>
            <a:spLocks noGrp="1"/>
          </p:cNvSpPr>
          <p:nvPr>
            <p:ph type="title"/>
          </p:nvPr>
        </p:nvSpPr>
        <p:spPr>
          <a:xfrm>
            <a:off x="149961" y="78569"/>
            <a:ext cx="2700020" cy="261610"/>
          </a:xfrm>
        </p:spPr>
        <p:txBody>
          <a:bodyPr/>
          <a:lstStyle/>
          <a:p>
            <a:r>
              <a:rPr lang="it-IT" dirty="0"/>
              <a:t>         </a:t>
            </a:r>
          </a:p>
        </p:txBody>
      </p:sp>
      <p:sp>
        <p:nvSpPr>
          <p:cNvPr id="5" name="object 5"/>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7" name="object 7"/>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9</a:t>
            </a:fld>
            <a:r>
              <a:rPr spc="25" dirty="0"/>
              <a:t> </a:t>
            </a:r>
            <a:r>
              <a:rPr dirty="0"/>
              <a:t>of</a:t>
            </a:r>
            <a:r>
              <a:rPr spc="20" dirty="0"/>
              <a:t> </a:t>
            </a:r>
            <a:r>
              <a:rPr spc="-25" dirty="0"/>
              <a:t>1</a:t>
            </a:r>
            <a:r>
              <a:rPr lang="it-IT" spc="-25" dirty="0"/>
              <a:t>2</a:t>
            </a:r>
            <a:endParaRPr spc="-25" dirty="0"/>
          </a:p>
        </p:txBody>
      </p:sp>
      <p:sp>
        <p:nvSpPr>
          <p:cNvPr id="6" name="object 6"/>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6" action="ppaction://hlinksldjump"/>
              </a:rPr>
              <a:t>Sistema</a:t>
            </a:r>
            <a:r>
              <a:rPr sz="600" spc="20"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per</a:t>
            </a:r>
            <a:r>
              <a:rPr sz="600" spc="20"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Esperimenti</a:t>
            </a:r>
            <a:r>
              <a:rPr sz="600" spc="25" dirty="0">
                <a:solidFill>
                  <a:srgbClr val="FFFFFF"/>
                </a:solidFill>
                <a:latin typeface="Arial MT"/>
                <a:cs typeface="Arial MT"/>
                <a:hlinkClick r:id="rId6" action="ppaction://hlinksldjump"/>
              </a:rPr>
              <a:t> </a:t>
            </a:r>
            <a:r>
              <a:rPr sz="600" dirty="0">
                <a:solidFill>
                  <a:srgbClr val="FFFFFF"/>
                </a:solidFill>
                <a:latin typeface="Arial MT"/>
                <a:cs typeface="Arial MT"/>
                <a:hlinkClick r:id="rId6" action="ppaction://hlinksldjump"/>
              </a:rPr>
              <a:t>di</a:t>
            </a:r>
            <a:r>
              <a:rPr sz="600" spc="25" dirty="0">
                <a:solidFill>
                  <a:srgbClr val="FFFFFF"/>
                </a:solidFill>
                <a:latin typeface="Arial MT"/>
                <a:cs typeface="Arial MT"/>
                <a:hlinkClick r:id="rId6" action="ppaction://hlinksldjump"/>
              </a:rPr>
              <a:t> </a:t>
            </a:r>
            <a:r>
              <a:rPr sz="600" spc="-10" dirty="0">
                <a:solidFill>
                  <a:srgbClr val="FFFFFF"/>
                </a:solidFill>
                <a:latin typeface="Arial MT"/>
                <a:cs typeface="Arial MT"/>
                <a:hlinkClick r:id="rId6" action="ppaction://hlinksldjump"/>
              </a:rPr>
              <a:t>Biofeedback</a:t>
            </a:r>
            <a:endParaRPr sz="600" dirty="0">
              <a:latin typeface="Arial MT"/>
              <a:cs typeface="Arial MT"/>
            </a:endParaRPr>
          </a:p>
        </p:txBody>
      </p:sp>
      <p:pic>
        <p:nvPicPr>
          <p:cNvPr id="13" name="Record_2026-02-16-22-11-48 (online-video-cutter.com)">
            <a:hlinkClick r:id="" action="ppaction://media"/>
            <a:extLst>
              <a:ext uri="{FF2B5EF4-FFF2-40B4-BE49-F238E27FC236}">
                <a16:creationId xmlns:a16="http://schemas.microsoft.com/office/drawing/2014/main" id="{73C23EA8-30A8-7E73-7BFC-990F1171A663}"/>
              </a:ext>
            </a:extLst>
          </p:cNvPr>
          <p:cNvPicPr>
            <a:picLocks noGrp="1" noChangeAspect="1"/>
          </p:cNvPicPr>
          <p:nvPr>
            <p:ph sz="half" idx="3"/>
            <a:videoFile r:link="rId2"/>
            <p:extLst>
              <p:ext uri="{DAA4B4D4-6D71-4841-9C94-3DE7FCFB9230}">
                <p14:media xmlns:p14="http://schemas.microsoft.com/office/powerpoint/2010/main" r:embed="rId1"/>
              </p:ext>
            </p:extLst>
          </p:nvPr>
        </p:nvPicPr>
        <p:blipFill>
          <a:blip r:embed="rId7"/>
          <a:stretch>
            <a:fillRect/>
          </a:stretch>
        </p:blipFill>
        <p:spPr>
          <a:xfrm>
            <a:off x="2762250" y="739775"/>
            <a:ext cx="1166813" cy="2284412"/>
          </a:xfrm>
        </p:spPr>
      </p:pic>
      <p:pic>
        <p:nvPicPr>
          <p:cNvPr id="16" name="Segnaposto contenuto 15" descr="Immagine che contiene persona, muro, cavo, interno&#10;&#10;Il contenuto generato dall'IA potrebbe non essere corretto.">
            <a:extLst>
              <a:ext uri="{FF2B5EF4-FFF2-40B4-BE49-F238E27FC236}">
                <a16:creationId xmlns:a16="http://schemas.microsoft.com/office/drawing/2014/main" id="{5AE4A6D0-587B-F1EE-55F1-5792A1C4AF58}"/>
              </a:ext>
            </a:extLst>
          </p:cNvPr>
          <p:cNvPicPr>
            <a:picLocks noGrp="1" noChangeAspect="1"/>
          </p:cNvPicPr>
          <p:nvPr>
            <p:ph sz="half" idx="2"/>
          </p:nvPr>
        </p:nvPicPr>
        <p:blipFill>
          <a:blip r:embed="rId8" cstate="print">
            <a:extLst>
              <a:ext uri="{28A0092B-C50C-407E-A947-70E740481C1C}">
                <a14:useLocalDpi xmlns:a14="http://schemas.microsoft.com/office/drawing/2010/main" val="0"/>
              </a:ext>
            </a:extLst>
          </a:blip>
          <a:srcRect l="-1401" r="1401" b="12370"/>
          <a:stretch>
            <a:fillRect/>
          </a:stretch>
        </p:blipFill>
        <p:spPr>
          <a:xfrm>
            <a:off x="323850" y="792272"/>
            <a:ext cx="1955156" cy="2284412"/>
          </a:xfrm>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095"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40" rIns="0" bIns="0" rtlCol="0">
            <a:spAutoFit/>
          </a:bodyPr>
          <a:lstStyle/>
          <a:p>
            <a:pPr marL="12700">
              <a:lnSpc>
                <a:spcPct val="100000"/>
              </a:lnSpc>
              <a:spcBef>
                <a:spcPts val="120"/>
              </a:spcBef>
            </a:pPr>
            <a:r>
              <a:rPr spc="-95" dirty="0"/>
              <a:t>Sperimentazione</a:t>
            </a:r>
            <a:r>
              <a:rPr spc="-30" dirty="0"/>
              <a:t> </a:t>
            </a:r>
            <a:r>
              <a:rPr spc="-190" dirty="0"/>
              <a:t>e</a:t>
            </a:r>
            <a:r>
              <a:rPr spc="5" dirty="0"/>
              <a:t> </a:t>
            </a:r>
            <a:r>
              <a:rPr spc="-35" dirty="0"/>
              <a:t>risultati</a:t>
            </a:r>
          </a:p>
        </p:txBody>
      </p:sp>
      <p:pic>
        <p:nvPicPr>
          <p:cNvPr id="3" name="object 3"/>
          <p:cNvPicPr/>
          <p:nvPr/>
        </p:nvPicPr>
        <p:blipFill>
          <a:blip r:embed="rId3" cstate="print"/>
          <a:stretch>
            <a:fillRect/>
          </a:stretch>
        </p:blipFill>
        <p:spPr>
          <a:xfrm>
            <a:off x="3527996" y="47072"/>
            <a:ext cx="1080007" cy="423538"/>
          </a:xfrm>
          <a:prstGeom prst="rect">
            <a:avLst/>
          </a:prstGeom>
        </p:spPr>
      </p:pic>
      <p:pic>
        <p:nvPicPr>
          <p:cNvPr id="4" name="object 4"/>
          <p:cNvPicPr/>
          <p:nvPr/>
        </p:nvPicPr>
        <p:blipFill>
          <a:blip r:embed="rId4" cstate="print"/>
          <a:stretch>
            <a:fillRect/>
          </a:stretch>
        </p:blipFill>
        <p:spPr>
          <a:xfrm>
            <a:off x="398881" y="877985"/>
            <a:ext cx="1477304" cy="2095046"/>
          </a:xfrm>
          <a:prstGeom prst="rect">
            <a:avLst/>
          </a:prstGeom>
        </p:spPr>
      </p:pic>
      <p:sp>
        <p:nvSpPr>
          <p:cNvPr id="5" name="object 5"/>
          <p:cNvSpPr txBox="1">
            <a:spLocks noGrp="1"/>
          </p:cNvSpPr>
          <p:nvPr>
            <p:ph type="body" idx="1"/>
          </p:nvPr>
        </p:nvSpPr>
        <p:spPr>
          <a:xfrm>
            <a:off x="1924050" y="1232499"/>
            <a:ext cx="2608579" cy="1425647"/>
          </a:xfrm>
          <a:prstGeom prst="rect">
            <a:avLst/>
          </a:prstGeom>
        </p:spPr>
        <p:txBody>
          <a:bodyPr vert="horz" wrap="square" lIns="0" tIns="6985" rIns="0" bIns="0" rtlCol="0">
            <a:spAutoFit/>
          </a:bodyPr>
          <a:lstStyle/>
          <a:p>
            <a:pPr marL="173990" marR="30480" indent="-136525">
              <a:lnSpc>
                <a:spcPct val="102600"/>
              </a:lnSpc>
              <a:spcBef>
                <a:spcPts val="55"/>
              </a:spcBef>
              <a:buClr>
                <a:srgbClr val="003366"/>
              </a:buClr>
              <a:buFont typeface="Arial"/>
              <a:buChar char="•"/>
              <a:tabLst>
                <a:tab pos="176530" algn="l"/>
              </a:tabLst>
            </a:pPr>
            <a:r>
              <a:rPr sz="1100" spc="-10" dirty="0"/>
              <a:t>Dopo</a:t>
            </a:r>
            <a:r>
              <a:rPr sz="1100" spc="-55" dirty="0"/>
              <a:t> aver</a:t>
            </a:r>
            <a:r>
              <a:rPr sz="1100" spc="-35" dirty="0"/>
              <a:t> </a:t>
            </a:r>
            <a:r>
              <a:rPr sz="1100" spc="-20" dirty="0"/>
              <a:t>ottenuto</a:t>
            </a:r>
            <a:r>
              <a:rPr sz="1100" spc="-40" dirty="0"/>
              <a:t> </a:t>
            </a:r>
            <a:r>
              <a:rPr sz="1100" spc="-10" dirty="0"/>
              <a:t>un</a:t>
            </a:r>
            <a:r>
              <a:rPr sz="1100" spc="-45" dirty="0"/>
              <a:t> </a:t>
            </a:r>
            <a:r>
              <a:rPr sz="1100" spc="-35" dirty="0"/>
              <a:t>contenitore </a:t>
            </a:r>
            <a:r>
              <a:rPr sz="1100" spc="-25" dirty="0"/>
              <a:t>per</a:t>
            </a:r>
            <a:r>
              <a:rPr sz="1100" spc="-45" dirty="0"/>
              <a:t> </a:t>
            </a:r>
            <a:r>
              <a:rPr sz="1100" spc="-25" dirty="0"/>
              <a:t>la 	</a:t>
            </a:r>
            <a:r>
              <a:rPr sz="1100" spc="-60" dirty="0"/>
              <a:t>scheda</a:t>
            </a:r>
            <a:r>
              <a:rPr sz="1100" spc="-30" dirty="0"/>
              <a:t> </a:t>
            </a:r>
            <a:r>
              <a:rPr sz="1100" dirty="0"/>
              <a:t>e</a:t>
            </a:r>
            <a:r>
              <a:rPr sz="1100" spc="-35" dirty="0"/>
              <a:t> </a:t>
            </a:r>
            <a:r>
              <a:rPr sz="1100" spc="-25" dirty="0"/>
              <a:t>per</a:t>
            </a:r>
            <a:r>
              <a:rPr sz="1100" spc="-35" dirty="0"/>
              <a:t> </a:t>
            </a:r>
            <a:r>
              <a:rPr sz="1100" dirty="0"/>
              <a:t>i</a:t>
            </a:r>
            <a:r>
              <a:rPr sz="1100" spc="-30" dirty="0"/>
              <a:t> </a:t>
            </a:r>
            <a:r>
              <a:rPr sz="1100" spc="-55" dirty="0"/>
              <a:t>sensori</a:t>
            </a:r>
            <a:r>
              <a:rPr sz="1100" spc="-35" dirty="0"/>
              <a:t> </a:t>
            </a:r>
            <a:r>
              <a:rPr sz="1100" spc="-10" dirty="0"/>
              <a:t>da</a:t>
            </a:r>
            <a:r>
              <a:rPr sz="1100" spc="-30" dirty="0"/>
              <a:t> </a:t>
            </a:r>
            <a:r>
              <a:rPr sz="1100" spc="-40" dirty="0"/>
              <a:t>una</a:t>
            </a:r>
            <a:r>
              <a:rPr sz="1100" spc="-30" dirty="0"/>
              <a:t> </a:t>
            </a:r>
            <a:r>
              <a:rPr sz="1100" spc="-30" dirty="0" err="1"/>
              <a:t>scatola</a:t>
            </a:r>
            <a:r>
              <a:rPr sz="1100" spc="-35" dirty="0"/>
              <a:t> </a:t>
            </a:r>
            <a:r>
              <a:rPr lang="it-IT" sz="1100" spc="-25" dirty="0"/>
              <a:t>in plastica</a:t>
            </a:r>
            <a:r>
              <a:rPr sz="1100" spc="-20" dirty="0"/>
              <a:t>,</a:t>
            </a:r>
            <a:r>
              <a:rPr sz="1100" spc="-45" dirty="0"/>
              <a:t> </a:t>
            </a:r>
            <a:r>
              <a:rPr sz="1100" dirty="0"/>
              <a:t>si</a:t>
            </a:r>
            <a:r>
              <a:rPr sz="1100" spc="-40" dirty="0"/>
              <a:t> </a:t>
            </a:r>
            <a:r>
              <a:rPr sz="1100" dirty="0"/>
              <a:t>è</a:t>
            </a:r>
            <a:r>
              <a:rPr sz="1100" spc="-40" dirty="0"/>
              <a:t> </a:t>
            </a:r>
            <a:r>
              <a:rPr sz="1100" spc="-10" dirty="0"/>
              <a:t>potuta</a:t>
            </a:r>
            <a:r>
              <a:rPr sz="1100" spc="-35" dirty="0"/>
              <a:t> </a:t>
            </a:r>
            <a:r>
              <a:rPr sz="1100" spc="-10" dirty="0"/>
              <a:t>utilizzare 	</a:t>
            </a:r>
            <a:r>
              <a:rPr sz="1100" spc="-25" dirty="0"/>
              <a:t>l’applicazione</a:t>
            </a:r>
            <a:r>
              <a:rPr sz="1100" spc="-5" dirty="0"/>
              <a:t> </a:t>
            </a:r>
            <a:r>
              <a:rPr sz="1100" spc="-25" dirty="0"/>
              <a:t>per</a:t>
            </a:r>
            <a:r>
              <a:rPr sz="1100" spc="-10" dirty="0"/>
              <a:t> </a:t>
            </a:r>
            <a:r>
              <a:rPr sz="1100" spc="-40" dirty="0"/>
              <a:t>visualizzare</a:t>
            </a:r>
            <a:r>
              <a:rPr sz="1100" spc="-5" dirty="0"/>
              <a:t> </a:t>
            </a:r>
            <a:r>
              <a:rPr sz="1100" dirty="0"/>
              <a:t>i</a:t>
            </a:r>
            <a:r>
              <a:rPr sz="1100" spc="-10" dirty="0"/>
              <a:t> parametri 	rilevati;</a:t>
            </a:r>
            <a:endParaRPr sz="1100" dirty="0"/>
          </a:p>
          <a:p>
            <a:pPr marL="173990" marR="76835" indent="-136525">
              <a:lnSpc>
                <a:spcPct val="102600"/>
              </a:lnSpc>
              <a:spcBef>
                <a:spcPts val="300"/>
              </a:spcBef>
              <a:buClr>
                <a:srgbClr val="003366"/>
              </a:buClr>
              <a:buFont typeface="Arial"/>
              <a:buChar char="•"/>
              <a:tabLst>
                <a:tab pos="176530" algn="l"/>
              </a:tabLst>
            </a:pPr>
            <a:r>
              <a:rPr sz="1100" spc="-10" dirty="0"/>
              <a:t>Il</a:t>
            </a:r>
            <a:r>
              <a:rPr sz="1100" spc="-50" dirty="0"/>
              <a:t> </a:t>
            </a:r>
            <a:r>
              <a:rPr sz="1100" spc="-30" dirty="0"/>
              <a:t>dispositivo</a:t>
            </a:r>
            <a:r>
              <a:rPr sz="1100" spc="-45" dirty="0"/>
              <a:t> </a:t>
            </a:r>
            <a:r>
              <a:rPr sz="1100" dirty="0"/>
              <a:t>è</a:t>
            </a:r>
            <a:r>
              <a:rPr sz="1100" spc="-40" dirty="0"/>
              <a:t> </a:t>
            </a:r>
            <a:r>
              <a:rPr sz="1100" spc="-10" dirty="0"/>
              <a:t>stato</a:t>
            </a:r>
            <a:r>
              <a:rPr sz="1100" spc="-45" dirty="0"/>
              <a:t> </a:t>
            </a:r>
            <a:r>
              <a:rPr sz="1100" spc="-35" dirty="0"/>
              <a:t>provato</a:t>
            </a:r>
            <a:r>
              <a:rPr sz="1100" spc="-40" dirty="0"/>
              <a:t> </a:t>
            </a:r>
            <a:r>
              <a:rPr sz="1100" spc="-30" dirty="0"/>
              <a:t>su</a:t>
            </a:r>
            <a:r>
              <a:rPr sz="1100" spc="-45" dirty="0"/>
              <a:t> </a:t>
            </a:r>
            <a:r>
              <a:rPr sz="1100" spc="-10" dirty="0"/>
              <a:t>diverse 	</a:t>
            </a:r>
            <a:r>
              <a:rPr sz="1100" spc="-60" dirty="0"/>
              <a:t>persone</a:t>
            </a:r>
            <a:r>
              <a:rPr sz="1100" dirty="0"/>
              <a:t> </a:t>
            </a:r>
            <a:r>
              <a:rPr sz="1100" spc="-25" dirty="0"/>
              <a:t>per</a:t>
            </a:r>
            <a:r>
              <a:rPr sz="1100" spc="-5" dirty="0"/>
              <a:t> </a:t>
            </a:r>
            <a:r>
              <a:rPr sz="1100" spc="-45" dirty="0"/>
              <a:t>verificarne</a:t>
            </a:r>
            <a:r>
              <a:rPr sz="1100" dirty="0"/>
              <a:t> il </a:t>
            </a:r>
            <a:r>
              <a:rPr sz="1100" spc="-40" dirty="0"/>
              <a:t>funzionamento, 	</a:t>
            </a:r>
            <a:r>
              <a:rPr sz="1100" spc="-25" dirty="0"/>
              <a:t>con</a:t>
            </a:r>
            <a:r>
              <a:rPr sz="1100" spc="-60" dirty="0"/>
              <a:t> </a:t>
            </a:r>
            <a:r>
              <a:rPr sz="1100" spc="-10" dirty="0"/>
              <a:t>risultati</a:t>
            </a:r>
            <a:r>
              <a:rPr sz="1100" spc="-50" dirty="0"/>
              <a:t> </a:t>
            </a:r>
            <a:r>
              <a:rPr sz="1100" spc="-10" dirty="0"/>
              <a:t>molto</a:t>
            </a:r>
            <a:r>
              <a:rPr sz="1100" spc="-60" dirty="0"/>
              <a:t> </a:t>
            </a:r>
            <a:r>
              <a:rPr sz="1100" spc="-10" dirty="0" err="1"/>
              <a:t>simili</a:t>
            </a:r>
            <a:r>
              <a:rPr sz="1100" spc="-10" dirty="0"/>
              <a:t>.</a:t>
            </a:r>
            <a:endParaRPr sz="1100" dirty="0"/>
          </a:p>
        </p:txBody>
      </p:sp>
      <p:sp>
        <p:nvSpPr>
          <p:cNvPr id="6" name="object 6"/>
          <p:cNvSpPr/>
          <p:nvPr/>
        </p:nvSpPr>
        <p:spPr>
          <a:xfrm>
            <a:off x="0" y="3346361"/>
            <a:ext cx="4608195" cy="109855"/>
          </a:xfrm>
          <a:custGeom>
            <a:avLst/>
            <a:gdLst/>
            <a:ahLst/>
            <a:cxnLst/>
            <a:rect l="l" t="t" r="r" b="b"/>
            <a:pathLst>
              <a:path w="4608195" h="109854">
                <a:moveTo>
                  <a:pt x="4608004" y="0"/>
                </a:moveTo>
                <a:lnTo>
                  <a:pt x="3225596" y="0"/>
                </a:lnTo>
                <a:lnTo>
                  <a:pt x="1382420" y="0"/>
                </a:lnTo>
                <a:lnTo>
                  <a:pt x="0" y="0"/>
                </a:lnTo>
                <a:lnTo>
                  <a:pt x="0" y="109639"/>
                </a:lnTo>
                <a:lnTo>
                  <a:pt x="1382420" y="109639"/>
                </a:lnTo>
                <a:lnTo>
                  <a:pt x="3225584" y="109639"/>
                </a:lnTo>
                <a:lnTo>
                  <a:pt x="4608004" y="109639"/>
                </a:lnTo>
                <a:lnTo>
                  <a:pt x="4608004" y="0"/>
                </a:lnTo>
                <a:close/>
              </a:path>
            </a:pathLst>
          </a:custGeom>
          <a:solidFill>
            <a:srgbClr val="003366"/>
          </a:solidFill>
        </p:spPr>
        <p:txBody>
          <a:bodyPr wrap="square" lIns="0" tIns="0" rIns="0" bIns="0" rtlCol="0"/>
          <a:lstStyle/>
          <a:p>
            <a:endParaRPr/>
          </a:p>
        </p:txBody>
      </p:sp>
      <p:sp>
        <p:nvSpPr>
          <p:cNvPr id="7" name="object 7"/>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8" name="object 8"/>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5" action="ppaction://hlinksldjump"/>
              </a:rPr>
              <a:t>Sistema</a:t>
            </a:r>
            <a:r>
              <a:rPr sz="600" spc="20"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per</a:t>
            </a:r>
            <a:r>
              <a:rPr sz="600" spc="20"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Esperimenti</a:t>
            </a:r>
            <a:r>
              <a:rPr sz="600" spc="25" dirty="0">
                <a:solidFill>
                  <a:srgbClr val="FFFFFF"/>
                </a:solidFill>
                <a:latin typeface="Arial MT"/>
                <a:cs typeface="Arial MT"/>
                <a:hlinkClick r:id="rId5" action="ppaction://hlinksldjump"/>
              </a:rPr>
              <a:t> </a:t>
            </a:r>
            <a:r>
              <a:rPr sz="600" dirty="0">
                <a:solidFill>
                  <a:srgbClr val="FFFFFF"/>
                </a:solidFill>
                <a:latin typeface="Arial MT"/>
                <a:cs typeface="Arial MT"/>
                <a:hlinkClick r:id="rId5" action="ppaction://hlinksldjump"/>
              </a:rPr>
              <a:t>di</a:t>
            </a:r>
            <a:r>
              <a:rPr sz="600" spc="25" dirty="0">
                <a:solidFill>
                  <a:srgbClr val="FFFFFF"/>
                </a:solidFill>
                <a:latin typeface="Arial MT"/>
                <a:cs typeface="Arial MT"/>
                <a:hlinkClick r:id="rId5" action="ppaction://hlinksldjump"/>
              </a:rPr>
              <a:t> </a:t>
            </a:r>
            <a:r>
              <a:rPr sz="600" spc="-10" dirty="0">
                <a:solidFill>
                  <a:srgbClr val="FFFFFF"/>
                </a:solidFill>
                <a:latin typeface="Arial MT"/>
                <a:cs typeface="Arial MT"/>
                <a:hlinkClick r:id="rId5" action="ppaction://hlinksldjump"/>
              </a:rPr>
              <a:t>Biofeedback</a:t>
            </a:r>
            <a:endParaRPr sz="600">
              <a:latin typeface="Arial MT"/>
              <a:cs typeface="Arial MT"/>
            </a:endParaRPr>
          </a:p>
        </p:txBody>
      </p:sp>
      <p:sp>
        <p:nvSpPr>
          <p:cNvPr id="9" name="object 9"/>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10</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960" y="78569"/>
            <a:ext cx="3450489" cy="276999"/>
          </a:xfrm>
          <a:prstGeom prst="rect">
            <a:avLst/>
          </a:prstGeom>
        </p:spPr>
        <p:txBody>
          <a:bodyPr vert="horz" wrap="square" lIns="0" tIns="15240" rIns="0" bIns="0" rtlCol="0">
            <a:spAutoFit/>
          </a:bodyPr>
          <a:lstStyle/>
          <a:p>
            <a:pPr marL="12700">
              <a:lnSpc>
                <a:spcPct val="100000"/>
              </a:lnSpc>
              <a:spcBef>
                <a:spcPts val="120"/>
              </a:spcBef>
            </a:pPr>
            <a:r>
              <a:rPr spc="-55" dirty="0" err="1"/>
              <a:t>Contributo</a:t>
            </a:r>
            <a:r>
              <a:rPr spc="-75" dirty="0"/>
              <a:t> </a:t>
            </a:r>
            <a:r>
              <a:rPr spc="-105" dirty="0" err="1"/>
              <a:t>personale</a:t>
            </a:r>
            <a:r>
              <a:rPr lang="it-IT" spc="-105" dirty="0"/>
              <a:t> e conclusioni</a:t>
            </a:r>
            <a:endParaRPr spc="-105" dirty="0"/>
          </a:p>
        </p:txBody>
      </p:sp>
      <p:pic>
        <p:nvPicPr>
          <p:cNvPr id="3" name="object 3"/>
          <p:cNvPicPr/>
          <p:nvPr/>
        </p:nvPicPr>
        <p:blipFill>
          <a:blip r:embed="rId3" cstate="print"/>
          <a:stretch>
            <a:fillRect/>
          </a:stretch>
        </p:blipFill>
        <p:spPr>
          <a:xfrm>
            <a:off x="3527996" y="47072"/>
            <a:ext cx="1080007" cy="423538"/>
          </a:xfrm>
          <a:prstGeom prst="rect">
            <a:avLst/>
          </a:prstGeom>
        </p:spPr>
      </p:pic>
      <p:sp>
        <p:nvSpPr>
          <p:cNvPr id="5" name="object 5"/>
          <p:cNvSpPr/>
          <p:nvPr/>
        </p:nvSpPr>
        <p:spPr>
          <a:xfrm>
            <a:off x="0" y="3346348"/>
            <a:ext cx="4608195" cy="109855"/>
          </a:xfrm>
          <a:custGeom>
            <a:avLst/>
            <a:gdLst/>
            <a:ahLst/>
            <a:cxnLst/>
            <a:rect l="l" t="t" r="r" b="b"/>
            <a:pathLst>
              <a:path w="4608195" h="109854">
                <a:moveTo>
                  <a:pt x="4608004" y="0"/>
                </a:moveTo>
                <a:lnTo>
                  <a:pt x="3225596" y="0"/>
                </a:lnTo>
                <a:lnTo>
                  <a:pt x="1382420" y="0"/>
                </a:lnTo>
                <a:lnTo>
                  <a:pt x="0" y="0"/>
                </a:lnTo>
                <a:lnTo>
                  <a:pt x="0" y="109651"/>
                </a:lnTo>
                <a:lnTo>
                  <a:pt x="1382420"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7" name="object 7"/>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4" action="ppaction://hlinksldjump"/>
              </a:rPr>
              <a:t>Sistema</a:t>
            </a:r>
            <a:r>
              <a:rPr sz="600" spc="20"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per</a:t>
            </a:r>
            <a:r>
              <a:rPr sz="600" spc="20"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Esperimenti</a:t>
            </a:r>
            <a:r>
              <a:rPr sz="600" spc="25" dirty="0">
                <a:solidFill>
                  <a:srgbClr val="FFFFFF"/>
                </a:solidFill>
                <a:latin typeface="Arial MT"/>
                <a:cs typeface="Arial MT"/>
                <a:hlinkClick r:id="rId4" action="ppaction://hlinksldjump"/>
              </a:rPr>
              <a:t> </a:t>
            </a:r>
            <a:r>
              <a:rPr sz="600" dirty="0">
                <a:solidFill>
                  <a:srgbClr val="FFFFFF"/>
                </a:solidFill>
                <a:latin typeface="Arial MT"/>
                <a:cs typeface="Arial MT"/>
                <a:hlinkClick r:id="rId4" action="ppaction://hlinksldjump"/>
              </a:rPr>
              <a:t>di</a:t>
            </a:r>
            <a:r>
              <a:rPr sz="600" spc="25" dirty="0">
                <a:solidFill>
                  <a:srgbClr val="FFFFFF"/>
                </a:solidFill>
                <a:latin typeface="Arial MT"/>
                <a:cs typeface="Arial MT"/>
                <a:hlinkClick r:id="rId4" action="ppaction://hlinksldjump"/>
              </a:rPr>
              <a:t> </a:t>
            </a:r>
            <a:r>
              <a:rPr sz="600" spc="-10" dirty="0">
                <a:solidFill>
                  <a:srgbClr val="FFFFFF"/>
                </a:solidFill>
                <a:latin typeface="Arial MT"/>
                <a:cs typeface="Arial MT"/>
                <a:hlinkClick r:id="rId4" action="ppaction://hlinksldjump"/>
              </a:rPr>
              <a:t>Biofeedback</a:t>
            </a:r>
            <a:endParaRPr sz="600">
              <a:latin typeface="Arial MT"/>
              <a:cs typeface="Arial MT"/>
            </a:endParaRPr>
          </a:p>
        </p:txBody>
      </p:sp>
      <p:sp>
        <p:nvSpPr>
          <p:cNvPr id="8" name="object 8"/>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11</a:t>
            </a:fld>
            <a:r>
              <a:rPr spc="25" dirty="0"/>
              <a:t> </a:t>
            </a:r>
            <a:r>
              <a:rPr dirty="0"/>
              <a:t>of</a:t>
            </a:r>
            <a:r>
              <a:rPr spc="20" dirty="0"/>
              <a:t> </a:t>
            </a:r>
            <a:r>
              <a:rPr spc="-25" dirty="0"/>
              <a:t>1</a:t>
            </a:r>
            <a:r>
              <a:rPr lang="it-IT" spc="-25" dirty="0"/>
              <a:t>2</a:t>
            </a:r>
            <a:endParaRPr spc="-25" dirty="0"/>
          </a:p>
        </p:txBody>
      </p:sp>
      <p:sp>
        <p:nvSpPr>
          <p:cNvPr id="10" name="object 4"/>
          <p:cNvSpPr txBox="1"/>
          <p:nvPr/>
        </p:nvSpPr>
        <p:spPr>
          <a:xfrm>
            <a:off x="149960" y="999853"/>
            <a:ext cx="4364890" cy="1694438"/>
          </a:xfrm>
          <a:prstGeom prst="rect">
            <a:avLst/>
          </a:prstGeom>
        </p:spPr>
        <p:txBody>
          <a:bodyPr vert="horz" wrap="square" lIns="0" tIns="6985" rIns="0" bIns="0" rtlCol="0">
            <a:spAutoFit/>
          </a:bodyPr>
          <a:lstStyle/>
          <a:p>
            <a:pPr marL="173990" marR="145415" indent="-136525">
              <a:lnSpc>
                <a:spcPct val="102600"/>
              </a:lnSpc>
              <a:spcBef>
                <a:spcPts val="55"/>
              </a:spcBef>
              <a:buClr>
                <a:srgbClr val="003366"/>
              </a:buClr>
              <a:buFont typeface="Arial"/>
              <a:buChar char="•"/>
              <a:tabLst>
                <a:tab pos="176530" algn="l"/>
              </a:tabLst>
            </a:pPr>
            <a:r>
              <a:rPr sz="1100" spc="-10" dirty="0">
                <a:latin typeface="Tahoma"/>
                <a:cs typeface="Tahoma"/>
              </a:rPr>
              <a:t>Il</a:t>
            </a:r>
            <a:r>
              <a:rPr sz="1100" spc="-60" dirty="0">
                <a:latin typeface="Tahoma"/>
                <a:cs typeface="Tahoma"/>
              </a:rPr>
              <a:t> </a:t>
            </a:r>
            <a:r>
              <a:rPr sz="1100" dirty="0">
                <a:latin typeface="Tahoma"/>
                <a:cs typeface="Tahoma"/>
              </a:rPr>
              <a:t>mio</a:t>
            </a:r>
            <a:r>
              <a:rPr sz="1100" spc="-50" dirty="0">
                <a:latin typeface="Tahoma"/>
                <a:cs typeface="Tahoma"/>
              </a:rPr>
              <a:t> </a:t>
            </a:r>
            <a:r>
              <a:rPr sz="1100" spc="-25" dirty="0">
                <a:latin typeface="Tahoma"/>
                <a:cs typeface="Tahoma"/>
              </a:rPr>
              <a:t>contributo</a:t>
            </a:r>
            <a:r>
              <a:rPr sz="1100" spc="-50" dirty="0">
                <a:latin typeface="Tahoma"/>
                <a:cs typeface="Tahoma"/>
              </a:rPr>
              <a:t> </a:t>
            </a:r>
            <a:r>
              <a:rPr sz="1100" spc="-20" dirty="0">
                <a:latin typeface="Tahoma"/>
                <a:cs typeface="Tahoma"/>
              </a:rPr>
              <a:t>nel</a:t>
            </a:r>
            <a:r>
              <a:rPr sz="1100" spc="-55" dirty="0">
                <a:latin typeface="Tahoma"/>
                <a:cs typeface="Tahoma"/>
              </a:rPr>
              <a:t> </a:t>
            </a:r>
            <a:r>
              <a:rPr sz="1100" spc="-35" dirty="0">
                <a:latin typeface="Tahoma"/>
                <a:cs typeface="Tahoma"/>
              </a:rPr>
              <a:t>progetto</a:t>
            </a:r>
            <a:r>
              <a:rPr sz="1100" spc="-50" dirty="0">
                <a:latin typeface="Tahoma"/>
                <a:cs typeface="Tahoma"/>
              </a:rPr>
              <a:t> </a:t>
            </a:r>
            <a:r>
              <a:rPr sz="1100" dirty="0">
                <a:latin typeface="Tahoma"/>
                <a:cs typeface="Tahoma"/>
              </a:rPr>
              <a:t>è</a:t>
            </a:r>
            <a:r>
              <a:rPr sz="1100" spc="-55" dirty="0">
                <a:latin typeface="Tahoma"/>
                <a:cs typeface="Tahoma"/>
              </a:rPr>
              <a:t> </a:t>
            </a:r>
            <a:r>
              <a:rPr sz="1100" spc="-10" dirty="0">
                <a:latin typeface="Tahoma"/>
                <a:cs typeface="Tahoma"/>
              </a:rPr>
              <a:t>stato</a:t>
            </a:r>
            <a:r>
              <a:rPr sz="1100" spc="-55" dirty="0">
                <a:latin typeface="Tahoma"/>
                <a:cs typeface="Tahoma"/>
              </a:rPr>
              <a:t> </a:t>
            </a:r>
            <a:r>
              <a:rPr sz="1100" spc="-30" dirty="0">
                <a:latin typeface="Tahoma"/>
                <a:cs typeface="Tahoma"/>
              </a:rPr>
              <a:t>quello</a:t>
            </a:r>
            <a:r>
              <a:rPr sz="1100" spc="-55" dirty="0">
                <a:latin typeface="Tahoma"/>
                <a:cs typeface="Tahoma"/>
              </a:rPr>
              <a:t> </a:t>
            </a:r>
            <a:r>
              <a:rPr sz="1100" dirty="0">
                <a:latin typeface="Tahoma"/>
                <a:cs typeface="Tahoma"/>
              </a:rPr>
              <a:t>di</a:t>
            </a:r>
            <a:r>
              <a:rPr sz="1100" spc="-50" dirty="0">
                <a:latin typeface="Tahoma"/>
                <a:cs typeface="Tahoma"/>
              </a:rPr>
              <a:t> </a:t>
            </a:r>
            <a:r>
              <a:rPr sz="1100" spc="-10" dirty="0">
                <a:latin typeface="Tahoma"/>
                <a:cs typeface="Tahoma"/>
              </a:rPr>
              <a:t>realizzare 	</a:t>
            </a:r>
            <a:r>
              <a:rPr sz="1100" spc="-30" dirty="0">
                <a:latin typeface="Tahoma"/>
                <a:cs typeface="Tahoma"/>
              </a:rPr>
              <a:t>un’interfaccia</a:t>
            </a:r>
            <a:r>
              <a:rPr sz="1100" spc="-5" dirty="0">
                <a:latin typeface="Tahoma"/>
                <a:cs typeface="Tahoma"/>
              </a:rPr>
              <a:t> </a:t>
            </a:r>
            <a:r>
              <a:rPr sz="1100" spc="-30" dirty="0">
                <a:latin typeface="Tahoma"/>
                <a:cs typeface="Tahoma"/>
              </a:rPr>
              <a:t>visiva</a:t>
            </a:r>
            <a:r>
              <a:rPr sz="1100" spc="5" dirty="0">
                <a:latin typeface="Tahoma"/>
                <a:cs typeface="Tahoma"/>
              </a:rPr>
              <a:t> </a:t>
            </a:r>
            <a:r>
              <a:rPr sz="1100" spc="-35" dirty="0">
                <a:latin typeface="Tahoma"/>
                <a:cs typeface="Tahoma"/>
              </a:rPr>
              <a:t>attraverso</a:t>
            </a:r>
            <a:r>
              <a:rPr sz="1100" dirty="0">
                <a:latin typeface="Tahoma"/>
                <a:cs typeface="Tahoma"/>
              </a:rPr>
              <a:t> </a:t>
            </a:r>
            <a:r>
              <a:rPr sz="1100" spc="-40" dirty="0">
                <a:latin typeface="Tahoma"/>
                <a:cs typeface="Tahoma"/>
              </a:rPr>
              <a:t>un’applicazione,</a:t>
            </a:r>
            <a:r>
              <a:rPr sz="1100" dirty="0">
                <a:latin typeface="Tahoma"/>
                <a:cs typeface="Tahoma"/>
              </a:rPr>
              <a:t> </a:t>
            </a:r>
            <a:r>
              <a:rPr sz="1100" spc="-35" dirty="0">
                <a:latin typeface="Tahoma"/>
                <a:cs typeface="Tahoma"/>
              </a:rPr>
              <a:t>dedicata</a:t>
            </a:r>
            <a:r>
              <a:rPr sz="1100" spc="-5" dirty="0">
                <a:latin typeface="Tahoma"/>
                <a:cs typeface="Tahoma"/>
              </a:rPr>
              <a:t> </a:t>
            </a:r>
            <a:r>
              <a:rPr sz="1100" spc="-20" dirty="0">
                <a:latin typeface="Tahoma"/>
                <a:cs typeface="Tahoma"/>
              </a:rPr>
              <a:t>alla 	</a:t>
            </a:r>
            <a:r>
              <a:rPr sz="1100" spc="-35" dirty="0">
                <a:latin typeface="Tahoma"/>
                <a:cs typeface="Tahoma"/>
              </a:rPr>
              <a:t>visualizzazione</a:t>
            </a:r>
            <a:r>
              <a:rPr sz="1100" spc="-20" dirty="0">
                <a:latin typeface="Tahoma"/>
                <a:cs typeface="Tahoma"/>
              </a:rPr>
              <a:t> </a:t>
            </a:r>
            <a:r>
              <a:rPr sz="1100" dirty="0">
                <a:latin typeface="Tahoma"/>
                <a:cs typeface="Tahoma"/>
              </a:rPr>
              <a:t>di</a:t>
            </a:r>
            <a:r>
              <a:rPr sz="1100" spc="-15" dirty="0">
                <a:latin typeface="Tahoma"/>
                <a:cs typeface="Tahoma"/>
              </a:rPr>
              <a:t> </a:t>
            </a:r>
            <a:r>
              <a:rPr sz="1100" spc="-25" dirty="0">
                <a:latin typeface="Tahoma"/>
                <a:cs typeface="Tahoma"/>
              </a:rPr>
              <a:t>alcuni</a:t>
            </a:r>
            <a:r>
              <a:rPr sz="1100" spc="-20" dirty="0">
                <a:latin typeface="Tahoma"/>
                <a:cs typeface="Tahoma"/>
              </a:rPr>
              <a:t> </a:t>
            </a:r>
            <a:r>
              <a:rPr sz="1100" spc="-25" dirty="0">
                <a:latin typeface="Tahoma"/>
                <a:cs typeface="Tahoma"/>
              </a:rPr>
              <a:t>importanti</a:t>
            </a:r>
            <a:r>
              <a:rPr sz="1100" spc="-20" dirty="0">
                <a:latin typeface="Tahoma"/>
                <a:cs typeface="Tahoma"/>
              </a:rPr>
              <a:t> </a:t>
            </a:r>
            <a:r>
              <a:rPr sz="1100" spc="-40" dirty="0">
                <a:latin typeface="Tahoma"/>
                <a:cs typeface="Tahoma"/>
              </a:rPr>
              <a:t>parametri</a:t>
            </a:r>
            <a:r>
              <a:rPr sz="1100" spc="-15" dirty="0">
                <a:latin typeface="Tahoma"/>
                <a:cs typeface="Tahoma"/>
              </a:rPr>
              <a:t> </a:t>
            </a:r>
            <a:r>
              <a:rPr sz="1100" spc="-20" dirty="0">
                <a:latin typeface="Tahoma"/>
                <a:cs typeface="Tahoma"/>
              </a:rPr>
              <a:t>per</a:t>
            </a:r>
            <a:r>
              <a:rPr sz="1100" spc="-15" dirty="0">
                <a:latin typeface="Tahoma"/>
                <a:cs typeface="Tahoma"/>
              </a:rPr>
              <a:t> </a:t>
            </a:r>
            <a:r>
              <a:rPr sz="1100" spc="-25" dirty="0">
                <a:latin typeface="Tahoma"/>
                <a:cs typeface="Tahoma"/>
              </a:rPr>
              <a:t>il 	</a:t>
            </a:r>
            <a:r>
              <a:rPr sz="1100" spc="-10" dirty="0">
                <a:latin typeface="Tahoma"/>
                <a:cs typeface="Tahoma"/>
              </a:rPr>
              <a:t>biofeedback;</a:t>
            </a:r>
            <a:endParaRPr sz="1100" dirty="0">
              <a:latin typeface="Tahoma"/>
              <a:cs typeface="Tahoma"/>
            </a:endParaRPr>
          </a:p>
          <a:p>
            <a:pPr marL="174625" indent="-136525">
              <a:lnSpc>
                <a:spcPct val="100000"/>
              </a:lnSpc>
              <a:spcBef>
                <a:spcPts val="175"/>
              </a:spcBef>
              <a:buClr>
                <a:srgbClr val="003366"/>
              </a:buClr>
              <a:buFont typeface="Arial"/>
              <a:buChar char="•"/>
              <a:tabLst>
                <a:tab pos="174625" algn="l"/>
              </a:tabLst>
            </a:pPr>
            <a:r>
              <a:rPr sz="1100" spc="-10" dirty="0">
                <a:latin typeface="Tahoma"/>
                <a:cs typeface="Tahoma"/>
              </a:rPr>
              <a:t>Migliorie</a:t>
            </a:r>
            <a:r>
              <a:rPr sz="1100" spc="-40" dirty="0">
                <a:latin typeface="Tahoma"/>
                <a:cs typeface="Tahoma"/>
              </a:rPr>
              <a:t> </a:t>
            </a:r>
            <a:r>
              <a:rPr sz="1100" spc="-10" dirty="0">
                <a:latin typeface="Tahoma"/>
                <a:cs typeface="Tahoma"/>
              </a:rPr>
              <a:t>future:</a:t>
            </a:r>
            <a:endParaRPr sz="1100" dirty="0">
              <a:latin typeface="Tahoma"/>
              <a:cs typeface="Tahoma"/>
            </a:endParaRPr>
          </a:p>
          <a:p>
            <a:pPr marL="452120" lvl="1" indent="-166370">
              <a:lnSpc>
                <a:spcPts val="1200"/>
              </a:lnSpc>
              <a:spcBef>
                <a:spcPts val="175"/>
              </a:spcBef>
              <a:buClr>
                <a:srgbClr val="003366"/>
              </a:buClr>
              <a:buAutoNum type="arabicPeriod"/>
              <a:tabLst>
                <a:tab pos="452120" algn="l"/>
              </a:tabLst>
            </a:pPr>
            <a:r>
              <a:rPr sz="1000" spc="-10" dirty="0">
                <a:latin typeface="Tahoma"/>
                <a:cs typeface="Tahoma"/>
              </a:rPr>
              <a:t>un</a:t>
            </a:r>
            <a:r>
              <a:rPr sz="1000" spc="-70" dirty="0">
                <a:latin typeface="Tahoma"/>
                <a:cs typeface="Tahoma"/>
              </a:rPr>
              <a:t> </a:t>
            </a:r>
            <a:r>
              <a:rPr sz="1000" spc="-40" dirty="0">
                <a:latin typeface="Tahoma"/>
                <a:cs typeface="Tahoma"/>
              </a:rPr>
              <a:t>firmware </a:t>
            </a:r>
            <a:r>
              <a:rPr sz="1000" dirty="0">
                <a:latin typeface="Tahoma"/>
                <a:cs typeface="Tahoma"/>
              </a:rPr>
              <a:t>più</a:t>
            </a:r>
            <a:r>
              <a:rPr sz="1000" spc="-75" dirty="0">
                <a:latin typeface="Tahoma"/>
                <a:cs typeface="Tahoma"/>
              </a:rPr>
              <a:t> </a:t>
            </a:r>
            <a:r>
              <a:rPr sz="1000" spc="-40" dirty="0">
                <a:latin typeface="Tahoma"/>
                <a:cs typeface="Tahoma"/>
              </a:rPr>
              <a:t>leggero </a:t>
            </a:r>
            <a:r>
              <a:rPr sz="1000" dirty="0">
                <a:latin typeface="Tahoma"/>
                <a:cs typeface="Tahoma"/>
              </a:rPr>
              <a:t>e</a:t>
            </a:r>
            <a:r>
              <a:rPr sz="1000" spc="-55" dirty="0">
                <a:latin typeface="Tahoma"/>
                <a:cs typeface="Tahoma"/>
              </a:rPr>
              <a:t> </a:t>
            </a:r>
            <a:r>
              <a:rPr sz="1000" dirty="0">
                <a:latin typeface="Tahoma"/>
                <a:cs typeface="Tahoma"/>
              </a:rPr>
              <a:t>più</a:t>
            </a:r>
            <a:r>
              <a:rPr sz="1000" spc="-60" dirty="0">
                <a:latin typeface="Tahoma"/>
                <a:cs typeface="Tahoma"/>
              </a:rPr>
              <a:t> </a:t>
            </a:r>
            <a:r>
              <a:rPr sz="1000" spc="-10" dirty="0">
                <a:latin typeface="Tahoma"/>
                <a:cs typeface="Tahoma"/>
              </a:rPr>
              <a:t>ottimizzato;</a:t>
            </a:r>
            <a:endParaRPr sz="1000" dirty="0">
              <a:latin typeface="Tahoma"/>
              <a:cs typeface="Tahoma"/>
            </a:endParaRPr>
          </a:p>
          <a:p>
            <a:pPr marL="451484" marR="31750" lvl="1" indent="-166370">
              <a:lnSpc>
                <a:spcPts val="1200"/>
              </a:lnSpc>
              <a:spcBef>
                <a:spcPts val="35"/>
              </a:spcBef>
              <a:buClr>
                <a:srgbClr val="003366"/>
              </a:buClr>
              <a:buAutoNum type="arabicPeriod"/>
              <a:tabLst>
                <a:tab pos="453390" algn="l"/>
              </a:tabLst>
            </a:pPr>
            <a:r>
              <a:rPr sz="1000" spc="-40" dirty="0">
                <a:latin typeface="Tahoma"/>
                <a:cs typeface="Tahoma"/>
              </a:rPr>
              <a:t>una</a:t>
            </a:r>
            <a:r>
              <a:rPr sz="1000" spc="-35" dirty="0">
                <a:latin typeface="Tahoma"/>
                <a:cs typeface="Tahoma"/>
              </a:rPr>
              <a:t> </a:t>
            </a:r>
            <a:r>
              <a:rPr sz="1000" spc="-25" dirty="0">
                <a:latin typeface="Tahoma"/>
                <a:cs typeface="Tahoma"/>
              </a:rPr>
              <a:t>custodia</a:t>
            </a:r>
            <a:r>
              <a:rPr sz="1000" spc="-30" dirty="0">
                <a:latin typeface="Tahoma"/>
                <a:cs typeface="Tahoma"/>
              </a:rPr>
              <a:t> </a:t>
            </a:r>
            <a:r>
              <a:rPr sz="1000" spc="-40" dirty="0">
                <a:latin typeface="Tahoma"/>
                <a:cs typeface="Tahoma"/>
              </a:rPr>
              <a:t>esteticamente</a:t>
            </a:r>
            <a:r>
              <a:rPr sz="1000" spc="-30" dirty="0">
                <a:latin typeface="Tahoma"/>
                <a:cs typeface="Tahoma"/>
              </a:rPr>
              <a:t> </a:t>
            </a:r>
            <a:r>
              <a:rPr sz="1000" spc="-25" dirty="0">
                <a:latin typeface="Tahoma"/>
                <a:cs typeface="Tahoma"/>
              </a:rPr>
              <a:t>migliore</a:t>
            </a:r>
            <a:r>
              <a:rPr sz="1000" spc="-30" dirty="0">
                <a:latin typeface="Tahoma"/>
                <a:cs typeface="Tahoma"/>
              </a:rPr>
              <a:t> </a:t>
            </a:r>
            <a:r>
              <a:rPr sz="1000" dirty="0">
                <a:latin typeface="Tahoma"/>
                <a:cs typeface="Tahoma"/>
              </a:rPr>
              <a:t>e</a:t>
            </a:r>
            <a:r>
              <a:rPr sz="1000" spc="-30" dirty="0">
                <a:latin typeface="Tahoma"/>
                <a:cs typeface="Tahoma"/>
              </a:rPr>
              <a:t> </a:t>
            </a:r>
            <a:r>
              <a:rPr sz="1000" spc="-40" dirty="0">
                <a:latin typeface="Tahoma"/>
                <a:cs typeface="Tahoma"/>
              </a:rPr>
              <a:t>una</a:t>
            </a:r>
            <a:r>
              <a:rPr sz="1000" spc="-35" dirty="0">
                <a:latin typeface="Tahoma"/>
                <a:cs typeface="Tahoma"/>
              </a:rPr>
              <a:t> </a:t>
            </a:r>
            <a:r>
              <a:rPr sz="1000" spc="-45" dirty="0">
                <a:latin typeface="Tahoma"/>
                <a:cs typeface="Tahoma"/>
              </a:rPr>
              <a:t>gestione</a:t>
            </a:r>
            <a:r>
              <a:rPr sz="1000" spc="-30" dirty="0">
                <a:latin typeface="Tahoma"/>
                <a:cs typeface="Tahoma"/>
              </a:rPr>
              <a:t> </a:t>
            </a:r>
            <a:r>
              <a:rPr sz="1000" spc="-20" dirty="0">
                <a:latin typeface="Tahoma"/>
                <a:cs typeface="Tahoma"/>
              </a:rPr>
              <a:t>dei</a:t>
            </a:r>
            <a:r>
              <a:rPr sz="1000" spc="-30" dirty="0">
                <a:latin typeface="Tahoma"/>
                <a:cs typeface="Tahoma"/>
              </a:rPr>
              <a:t> </a:t>
            </a:r>
            <a:r>
              <a:rPr sz="1000" spc="-10" dirty="0">
                <a:latin typeface="Tahoma"/>
                <a:cs typeface="Tahoma"/>
              </a:rPr>
              <a:t>cavi</a:t>
            </a:r>
            <a:r>
              <a:rPr sz="1000" spc="-30" dirty="0">
                <a:latin typeface="Tahoma"/>
                <a:cs typeface="Tahoma"/>
              </a:rPr>
              <a:t> </a:t>
            </a:r>
            <a:r>
              <a:rPr sz="1000" spc="-25" dirty="0">
                <a:latin typeface="Tahoma"/>
                <a:cs typeface="Tahoma"/>
              </a:rPr>
              <a:t>più 	</a:t>
            </a:r>
            <a:r>
              <a:rPr lang="it-IT" sz="1000" spc="-10" dirty="0">
                <a:latin typeface="Tahoma"/>
                <a:cs typeface="Tahoma"/>
              </a:rPr>
              <a:t>efficiente</a:t>
            </a:r>
            <a:r>
              <a:rPr sz="1000" spc="-10" dirty="0">
                <a:latin typeface="Tahoma"/>
                <a:cs typeface="Tahoma"/>
              </a:rPr>
              <a:t>;</a:t>
            </a:r>
            <a:endParaRPr sz="1000" dirty="0">
              <a:latin typeface="Tahoma"/>
              <a:cs typeface="Tahoma"/>
            </a:endParaRPr>
          </a:p>
          <a:p>
            <a:pPr marL="452120" lvl="1" indent="-166370">
              <a:lnSpc>
                <a:spcPts val="1150"/>
              </a:lnSpc>
              <a:buClr>
                <a:srgbClr val="003366"/>
              </a:buClr>
              <a:buAutoNum type="arabicPeriod"/>
              <a:tabLst>
                <a:tab pos="452120" algn="l"/>
              </a:tabLst>
            </a:pPr>
            <a:r>
              <a:rPr sz="1000" spc="-30" dirty="0">
                <a:latin typeface="Tahoma"/>
                <a:cs typeface="Tahoma"/>
              </a:rPr>
              <a:t>l’eventuale</a:t>
            </a:r>
            <a:r>
              <a:rPr sz="1000" spc="-20" dirty="0">
                <a:latin typeface="Tahoma"/>
                <a:cs typeface="Tahoma"/>
              </a:rPr>
              <a:t> </a:t>
            </a:r>
            <a:r>
              <a:rPr sz="1000" spc="-40" dirty="0">
                <a:latin typeface="Tahoma"/>
                <a:cs typeface="Tahoma"/>
              </a:rPr>
              <a:t>implementazione</a:t>
            </a:r>
            <a:r>
              <a:rPr sz="1000" spc="-20" dirty="0">
                <a:latin typeface="Tahoma"/>
                <a:cs typeface="Tahoma"/>
              </a:rPr>
              <a:t> </a:t>
            </a:r>
            <a:r>
              <a:rPr sz="1000" dirty="0">
                <a:latin typeface="Tahoma"/>
                <a:cs typeface="Tahoma"/>
              </a:rPr>
              <a:t>di</a:t>
            </a:r>
            <a:r>
              <a:rPr sz="1000" spc="-20" dirty="0">
                <a:latin typeface="Tahoma"/>
                <a:cs typeface="Tahoma"/>
              </a:rPr>
              <a:t> </a:t>
            </a:r>
            <a:r>
              <a:rPr sz="1000" spc="-50" dirty="0">
                <a:latin typeface="Tahoma"/>
                <a:cs typeface="Tahoma"/>
              </a:rPr>
              <a:t>un</a:t>
            </a:r>
            <a:r>
              <a:rPr sz="1000" spc="-20" dirty="0">
                <a:latin typeface="Tahoma"/>
                <a:cs typeface="Tahoma"/>
              </a:rPr>
              <a:t> </a:t>
            </a:r>
            <a:r>
              <a:rPr sz="1000" spc="-30" dirty="0">
                <a:latin typeface="Tahoma"/>
                <a:cs typeface="Tahoma"/>
              </a:rPr>
              <a:t>modello</a:t>
            </a:r>
            <a:r>
              <a:rPr sz="1000" spc="-20" dirty="0">
                <a:latin typeface="Tahoma"/>
                <a:cs typeface="Tahoma"/>
              </a:rPr>
              <a:t> </a:t>
            </a:r>
            <a:r>
              <a:rPr sz="1000" dirty="0">
                <a:latin typeface="Tahoma"/>
                <a:cs typeface="Tahoma"/>
              </a:rPr>
              <a:t>di</a:t>
            </a:r>
            <a:r>
              <a:rPr sz="1000" spc="-20" dirty="0">
                <a:latin typeface="Tahoma"/>
                <a:cs typeface="Tahoma"/>
              </a:rPr>
              <a:t> Machine </a:t>
            </a:r>
            <a:r>
              <a:rPr sz="1000" spc="-10" dirty="0">
                <a:latin typeface="Tahoma"/>
                <a:cs typeface="Tahoma"/>
              </a:rPr>
              <a:t>Learning</a:t>
            </a:r>
            <a:endParaRPr sz="1000" dirty="0">
              <a:latin typeface="Tahoma"/>
              <a:cs typeface="Tahoma"/>
            </a:endParaRPr>
          </a:p>
          <a:p>
            <a:pPr marL="453390">
              <a:lnSpc>
                <a:spcPts val="1195"/>
              </a:lnSpc>
            </a:pPr>
            <a:r>
              <a:rPr sz="1000" dirty="0">
                <a:latin typeface="Tahoma"/>
                <a:cs typeface="Tahoma"/>
              </a:rPr>
              <a:t>in</a:t>
            </a:r>
            <a:r>
              <a:rPr sz="1000" spc="-20" dirty="0">
                <a:latin typeface="Tahoma"/>
                <a:cs typeface="Tahoma"/>
              </a:rPr>
              <a:t> </a:t>
            </a:r>
            <a:r>
              <a:rPr sz="1000" spc="-30" dirty="0">
                <a:latin typeface="Tahoma"/>
                <a:cs typeface="Tahoma"/>
              </a:rPr>
              <a:t>grado</a:t>
            </a:r>
            <a:r>
              <a:rPr sz="1000" spc="-15" dirty="0">
                <a:latin typeface="Tahoma"/>
                <a:cs typeface="Tahoma"/>
              </a:rPr>
              <a:t> </a:t>
            </a:r>
            <a:r>
              <a:rPr sz="1000" dirty="0">
                <a:latin typeface="Tahoma"/>
                <a:cs typeface="Tahoma"/>
              </a:rPr>
              <a:t>di</a:t>
            </a:r>
            <a:r>
              <a:rPr sz="1000" spc="-15" dirty="0">
                <a:latin typeface="Tahoma"/>
                <a:cs typeface="Tahoma"/>
              </a:rPr>
              <a:t> </a:t>
            </a:r>
            <a:r>
              <a:rPr sz="1000" spc="-40" dirty="0">
                <a:latin typeface="Tahoma"/>
                <a:cs typeface="Tahoma"/>
              </a:rPr>
              <a:t>riconoscere</a:t>
            </a:r>
            <a:r>
              <a:rPr sz="1000" spc="-20" dirty="0">
                <a:latin typeface="Tahoma"/>
                <a:cs typeface="Tahoma"/>
              </a:rPr>
              <a:t> </a:t>
            </a:r>
            <a:r>
              <a:rPr sz="1000" spc="-25" dirty="0">
                <a:latin typeface="Tahoma"/>
                <a:cs typeface="Tahoma"/>
              </a:rPr>
              <a:t>pattern</a:t>
            </a:r>
            <a:r>
              <a:rPr sz="1000" spc="-20" dirty="0">
                <a:latin typeface="Tahoma"/>
                <a:cs typeface="Tahoma"/>
              </a:rPr>
              <a:t> </a:t>
            </a:r>
            <a:r>
              <a:rPr sz="1000" dirty="0">
                <a:latin typeface="Tahoma"/>
                <a:cs typeface="Tahoma"/>
              </a:rPr>
              <a:t>o</a:t>
            </a:r>
            <a:r>
              <a:rPr sz="1000" spc="-20" dirty="0">
                <a:latin typeface="Tahoma"/>
                <a:cs typeface="Tahoma"/>
              </a:rPr>
              <a:t> </a:t>
            </a:r>
            <a:r>
              <a:rPr sz="1000" spc="-25" dirty="0">
                <a:latin typeface="Tahoma"/>
                <a:cs typeface="Tahoma"/>
              </a:rPr>
              <a:t>condizioni</a:t>
            </a:r>
            <a:r>
              <a:rPr sz="1000" spc="-15" dirty="0">
                <a:latin typeface="Tahoma"/>
                <a:cs typeface="Tahoma"/>
              </a:rPr>
              <a:t> </a:t>
            </a:r>
            <a:r>
              <a:rPr sz="1000" spc="-10" dirty="0" err="1">
                <a:latin typeface="Tahoma"/>
                <a:cs typeface="Tahoma"/>
              </a:rPr>
              <a:t>specifiche</a:t>
            </a:r>
            <a:r>
              <a:rPr sz="1000" spc="-10" dirty="0">
                <a:latin typeface="Tahoma"/>
                <a:cs typeface="Tahoma"/>
              </a:rPr>
              <a:t>.</a:t>
            </a:r>
            <a:endParaRPr sz="1000" dirty="0">
              <a:latin typeface="Tahoma"/>
              <a:cs typeface="Tahoma"/>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527996" y="47072"/>
            <a:ext cx="1080007" cy="423538"/>
          </a:xfrm>
          <a:prstGeom prst="rect">
            <a:avLst/>
          </a:prstGeom>
        </p:spPr>
      </p:pic>
      <p:sp>
        <p:nvSpPr>
          <p:cNvPr id="4" name="object 4"/>
          <p:cNvSpPr txBox="1">
            <a:spLocks noGrp="1"/>
          </p:cNvSpPr>
          <p:nvPr>
            <p:ph type="title"/>
          </p:nvPr>
        </p:nvSpPr>
        <p:spPr>
          <a:xfrm>
            <a:off x="852601" y="1438388"/>
            <a:ext cx="2902585" cy="403225"/>
          </a:xfrm>
          <a:prstGeom prst="rect">
            <a:avLst/>
          </a:prstGeom>
        </p:spPr>
        <p:txBody>
          <a:bodyPr vert="horz" wrap="square" lIns="0" tIns="15875" rIns="0" bIns="0" rtlCol="0">
            <a:spAutoFit/>
          </a:bodyPr>
          <a:lstStyle/>
          <a:p>
            <a:pPr marL="12700">
              <a:lnSpc>
                <a:spcPct val="100000"/>
              </a:lnSpc>
              <a:spcBef>
                <a:spcPts val="125"/>
              </a:spcBef>
            </a:pPr>
            <a:r>
              <a:rPr sz="2450" spc="-114" dirty="0">
                <a:solidFill>
                  <a:srgbClr val="003366"/>
                </a:solidFill>
              </a:rPr>
              <a:t>Grazie</a:t>
            </a:r>
            <a:r>
              <a:rPr sz="2450" spc="-75" dirty="0">
                <a:solidFill>
                  <a:srgbClr val="003366"/>
                </a:solidFill>
              </a:rPr>
              <a:t> </a:t>
            </a:r>
            <a:r>
              <a:rPr sz="2450" spc="-125" dirty="0">
                <a:solidFill>
                  <a:srgbClr val="003366"/>
                </a:solidFill>
              </a:rPr>
              <a:t>per</a:t>
            </a:r>
            <a:r>
              <a:rPr sz="2450" spc="-65" dirty="0">
                <a:solidFill>
                  <a:srgbClr val="003366"/>
                </a:solidFill>
              </a:rPr>
              <a:t> </a:t>
            </a:r>
            <a:r>
              <a:rPr sz="2450" spc="-85" dirty="0">
                <a:solidFill>
                  <a:srgbClr val="003366"/>
                </a:solidFill>
              </a:rPr>
              <a:t>l’attenzione!</a:t>
            </a:r>
            <a:endParaRPr sz="2450"/>
          </a:p>
        </p:txBody>
      </p:sp>
      <p:sp>
        <p:nvSpPr>
          <p:cNvPr id="5" name="object 5"/>
          <p:cNvSpPr/>
          <p:nvPr/>
        </p:nvSpPr>
        <p:spPr>
          <a:xfrm>
            <a:off x="0" y="3346348"/>
            <a:ext cx="4608195" cy="109855"/>
          </a:xfrm>
          <a:custGeom>
            <a:avLst/>
            <a:gdLst/>
            <a:ahLst/>
            <a:cxnLst/>
            <a:rect l="l" t="t" r="r" b="b"/>
            <a:pathLst>
              <a:path w="4608195" h="109854">
                <a:moveTo>
                  <a:pt x="4608004" y="0"/>
                </a:moveTo>
                <a:lnTo>
                  <a:pt x="3225596" y="0"/>
                </a:lnTo>
                <a:lnTo>
                  <a:pt x="1382420" y="0"/>
                </a:lnTo>
                <a:lnTo>
                  <a:pt x="0" y="0"/>
                </a:lnTo>
                <a:lnTo>
                  <a:pt x="0" y="109651"/>
                </a:lnTo>
                <a:lnTo>
                  <a:pt x="1382420" y="109651"/>
                </a:lnTo>
                <a:lnTo>
                  <a:pt x="3225584" y="109651"/>
                </a:lnTo>
                <a:lnTo>
                  <a:pt x="4608004" y="109651"/>
                </a:lnTo>
                <a:lnTo>
                  <a:pt x="4608004" y="0"/>
                </a:lnTo>
                <a:close/>
              </a:path>
            </a:pathLst>
          </a:custGeom>
          <a:solidFill>
            <a:srgbClr val="003366"/>
          </a:solidFill>
        </p:spPr>
        <p:txBody>
          <a:bodyPr wrap="square" lIns="0" tIns="0" rIns="0" bIns="0" rtlCol="0"/>
          <a:lstStyle/>
          <a:p>
            <a:endParaRPr/>
          </a:p>
        </p:txBody>
      </p:sp>
      <p:sp>
        <p:nvSpPr>
          <p:cNvPr id="6" name="object 6"/>
          <p:cNvSpPr txBox="1">
            <a:spLocks noGrp="1"/>
          </p:cNvSpPr>
          <p:nvPr>
            <p:ph type="ftr" sz="quarter" idx="5"/>
          </p:nvPr>
        </p:nvSpPr>
        <p:spPr>
          <a:prstGeom prst="rect">
            <a:avLst/>
          </a:prstGeom>
        </p:spPr>
        <p:txBody>
          <a:bodyPr vert="horz" wrap="square" lIns="0" tIns="24130" rIns="0" bIns="0" rtlCol="0">
            <a:spAutoFit/>
          </a:bodyPr>
          <a:lstStyle/>
          <a:p>
            <a:pPr marL="12700">
              <a:lnSpc>
                <a:spcPct val="100000"/>
              </a:lnSpc>
              <a:spcBef>
                <a:spcPts val="190"/>
              </a:spcBef>
            </a:pPr>
            <a:r>
              <a:rPr dirty="0"/>
              <a:t>E.</a:t>
            </a:r>
            <a:r>
              <a:rPr spc="35" dirty="0"/>
              <a:t> </a:t>
            </a:r>
            <a:r>
              <a:rPr spc="-25" dirty="0"/>
              <a:t>Prossen</a:t>
            </a:r>
          </a:p>
        </p:txBody>
      </p:sp>
      <p:sp>
        <p:nvSpPr>
          <p:cNvPr id="7" name="object 7"/>
          <p:cNvSpPr txBox="1"/>
          <p:nvPr/>
        </p:nvSpPr>
        <p:spPr>
          <a:xfrm>
            <a:off x="1620685" y="3321949"/>
            <a:ext cx="1367155" cy="137160"/>
          </a:xfrm>
          <a:prstGeom prst="rect">
            <a:avLst/>
          </a:prstGeom>
        </p:spPr>
        <p:txBody>
          <a:bodyPr vert="horz" wrap="square" lIns="0" tIns="24130" rIns="0" bIns="0" rtlCol="0">
            <a:spAutoFit/>
          </a:bodyPr>
          <a:lstStyle/>
          <a:p>
            <a:pPr marL="12700">
              <a:lnSpc>
                <a:spcPct val="100000"/>
              </a:lnSpc>
              <a:spcBef>
                <a:spcPts val="190"/>
              </a:spcBef>
            </a:pPr>
            <a:r>
              <a:rPr sz="600" spc="-10" dirty="0">
                <a:solidFill>
                  <a:srgbClr val="FFFFFF"/>
                </a:solidFill>
                <a:latin typeface="Arial MT"/>
                <a:cs typeface="Arial MT"/>
                <a:hlinkClick r:id="rId3" action="ppaction://hlinksldjump"/>
              </a:rPr>
              <a:t>Sistema</a:t>
            </a:r>
            <a:r>
              <a:rPr sz="600" spc="20" dirty="0">
                <a:solidFill>
                  <a:srgbClr val="FFFFFF"/>
                </a:solidFill>
                <a:latin typeface="Arial MT"/>
                <a:cs typeface="Arial MT"/>
                <a:hlinkClick r:id="rId3" action="ppaction://hlinksldjump"/>
              </a:rPr>
              <a:t> </a:t>
            </a:r>
            <a:r>
              <a:rPr sz="600" dirty="0">
                <a:solidFill>
                  <a:srgbClr val="FFFFFF"/>
                </a:solidFill>
                <a:latin typeface="Arial MT"/>
                <a:cs typeface="Arial MT"/>
                <a:hlinkClick r:id="rId3" action="ppaction://hlinksldjump"/>
              </a:rPr>
              <a:t>per</a:t>
            </a:r>
            <a:r>
              <a:rPr sz="600" spc="20"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Esperimenti</a:t>
            </a:r>
            <a:r>
              <a:rPr sz="600" spc="25" dirty="0">
                <a:solidFill>
                  <a:srgbClr val="FFFFFF"/>
                </a:solidFill>
                <a:latin typeface="Arial MT"/>
                <a:cs typeface="Arial MT"/>
                <a:hlinkClick r:id="rId3" action="ppaction://hlinksldjump"/>
              </a:rPr>
              <a:t> </a:t>
            </a:r>
            <a:r>
              <a:rPr sz="600" dirty="0">
                <a:solidFill>
                  <a:srgbClr val="FFFFFF"/>
                </a:solidFill>
                <a:latin typeface="Arial MT"/>
                <a:cs typeface="Arial MT"/>
                <a:hlinkClick r:id="rId3" action="ppaction://hlinksldjump"/>
              </a:rPr>
              <a:t>di</a:t>
            </a:r>
            <a:r>
              <a:rPr sz="600" spc="2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Biofeedback</a:t>
            </a:r>
            <a:endParaRPr sz="600">
              <a:latin typeface="Arial MT"/>
              <a:cs typeface="Arial MT"/>
            </a:endParaRPr>
          </a:p>
        </p:txBody>
      </p:sp>
      <p:sp>
        <p:nvSpPr>
          <p:cNvPr id="8" name="object 8"/>
          <p:cNvSpPr txBox="1">
            <a:spLocks noGrp="1"/>
          </p:cNvSpPr>
          <p:nvPr>
            <p:ph type="sldNum" sz="quarter" idx="7"/>
          </p:nvPr>
        </p:nvSpPr>
        <p:spPr>
          <a:xfrm>
            <a:off x="3758819" y="3321949"/>
            <a:ext cx="311150" cy="116699"/>
          </a:xfrm>
          <a:prstGeom prst="rect">
            <a:avLst/>
          </a:prstGeom>
        </p:spPr>
        <p:txBody>
          <a:bodyPr vert="horz" wrap="square" lIns="0" tIns="24130" rIns="0" bIns="0" rtlCol="0">
            <a:spAutoFit/>
          </a:bodyPr>
          <a:lstStyle/>
          <a:p>
            <a:pPr marL="17780">
              <a:lnSpc>
                <a:spcPct val="100000"/>
              </a:lnSpc>
              <a:spcBef>
                <a:spcPts val="190"/>
              </a:spcBef>
            </a:pPr>
            <a:fld id="{81D60167-4931-47E6-BA6A-407CBD079E47}" type="slidenum">
              <a:rPr dirty="0"/>
              <a:t>12</a:t>
            </a:fld>
            <a:r>
              <a:rPr spc="25" dirty="0"/>
              <a:t> </a:t>
            </a:r>
            <a:r>
              <a:rPr dirty="0"/>
              <a:t>of</a:t>
            </a:r>
            <a:r>
              <a:rPr spc="20" dirty="0"/>
              <a:t> </a:t>
            </a:r>
            <a:r>
              <a:rPr spc="-25" dirty="0"/>
              <a:t>1</a:t>
            </a:r>
            <a:r>
              <a:rPr lang="it-IT" spc="-25" dirty="0"/>
              <a:t>2</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2189</TotalTime>
  <Words>807</Words>
  <Application>Microsoft Office PowerPoint</Application>
  <PresentationFormat>Personalizzato</PresentationFormat>
  <Paragraphs>97</Paragraphs>
  <Slides>12</Slides>
  <Notes>11</Notes>
  <HiddenSlides>0</HiddenSlides>
  <MMClips>1</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12</vt:i4>
      </vt:variant>
    </vt:vector>
  </HeadingPairs>
  <TitlesOfParts>
    <vt:vector size="18" baseType="lpstr">
      <vt:lpstr>Aptos</vt:lpstr>
      <vt:lpstr>Arial</vt:lpstr>
      <vt:lpstr>Arial Black</vt:lpstr>
      <vt:lpstr>Arial MT</vt:lpstr>
      <vt:lpstr>Tahoma</vt:lpstr>
      <vt:lpstr>Office Theme</vt:lpstr>
      <vt:lpstr>Presentazione standard di PowerPoint</vt:lpstr>
      <vt:lpstr>Obiettivo del progetto</vt:lpstr>
      <vt:lpstr>Presentazione standard di PowerPoint</vt:lpstr>
      <vt:lpstr>Sistema Embedded: Arduino</vt:lpstr>
      <vt:lpstr>Sistema embedded: Sensori</vt:lpstr>
      <vt:lpstr>Presentazione standard di PowerPoint</vt:lpstr>
      <vt:lpstr>Applicazione Flutter: Ricezione</vt:lpstr>
      <vt:lpstr>Applicazione Flutter: Grafici</vt:lpstr>
      <vt:lpstr>         </vt:lpstr>
      <vt:lpstr>Sperimentazione e risultati</vt:lpstr>
      <vt:lpstr>Contributo personale e conclusioni</vt:lpstr>
      <vt:lpstr>Grazie per l’attenzione!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Progettazione e Sviluppo di un Sistema per Esperimenti di Biofeedback</dc:title>
  <dc:creator>Candidato: Edoardo Prossen[0.6em] Relatore: Prof. Riccardo Berta Correlatore: Dott. Matteo Fresta</dc:creator>
  <cp:lastModifiedBy>PROSSEN EDOARDO</cp:lastModifiedBy>
  <cp:revision>25</cp:revision>
  <dcterms:created xsi:type="dcterms:W3CDTF">2026-02-17T11:22:02Z</dcterms:created>
  <dcterms:modified xsi:type="dcterms:W3CDTF">2026-03-08T15:42:34Z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2026-02-17T00:00:00Z</vt:filetime>
  </property>
  <property fmtid="{D5CDD505-2E9C-101B-9397-08002B2CF9AE}" pid="3" name="Creator">
    <vt:lpwstr>LaTeX with Beamer class</vt:lpwstr>
  </property>
  <property fmtid="{D5CDD505-2E9C-101B-9397-08002B2CF9AE}" pid="4" name="LastSaved">
    <vt:filetime>2026-02-17T00:00:00Z</vt:filetime>
  </property>
  <property fmtid="{D5CDD505-2E9C-101B-9397-08002B2CF9AE}" pid="5" name="PTEX.Fullbanner">
    <vt:lpwstr>This is pdfTeX, Version 3.141592653-2.6-1.40.27 (TeX Live 2025) kpathsea version 6.4.1</vt:lpwstr>
  </property>
  <property fmtid="{D5CDD505-2E9C-101B-9397-08002B2CF9AE}" pid="6" name="Producer">
    <vt:lpwstr>pdfTeX-1.40.27</vt:lpwstr>
  </property>
</Properties>
</file>